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9" r:id="rId11"/>
    <p:sldId id="266" r:id="rId18"/>
    <p:sldId id="257" r:id="rId9"/>
    <p:sldId id="260" r:id="rId12"/>
    <p:sldId id="270" r:id="rId22"/>
    <p:sldId id="263" r:id="rId15"/>
    <p:sldId id="271" r:id="rId23"/>
    <p:sldId id="272" r:id="rId24"/>
    <p:sldId id="265" r:id="rId17"/>
    <p:sldId id="267" r:id="rId19"/>
    <p:sldId id="268" r:id="rId20"/>
    <p:sldId id="273" r:id="rId25"/>
    <p:sldId id="258" r:id="rId10"/>
    <p:sldId id="261" r:id="rId13"/>
    <p:sldId id="262" r:id="rId14"/>
    <p:sldId id="264" r:id="rId16"/>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Mở đầu ngắn: Đây không chỉ là chatbot trả lời FAQ. Mục tiêu là một HR Helpdesk có căn cứ, biết hỏi lại, bảo vệ dữ liệu và hỗ trợ xử lý nghiệp vụ.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Chốt bốn điểm leader cần nhớ: có căn cứ, tự nhiên, an toàn, có thể hành động. Nhấn mạnh 26/26 là browser test thực tế, không phải unit test giả lập.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Đặt bài toán theo góc vận hành. Nếu chỉ làm chatbot LLM, rủi ro lớn nhất là trả lời nghe rất hợp lý nhưng không có căn cứ nội bộ.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Trình bày theo persona. Đây là một workflow portal có chatbot, không phải chatbot đứng riêng.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Đi từ trái sang phải. Nhấn mạnh hybrid retrieval vì vector search đơn lẻ dễ bỏ lỡ mã chính sách/từ khóa chính xác. RBAC xảy ra trước generation.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Nêu trade-off: chunk nhỏ không có nghĩa cắt tùy tiện. Hệ thống chia theo heading/đoạn và lặp heading context để giữ ngữ nghĩa.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Đây là slide kỹ thuật quan trọng. Giải thích query rewrite cho follow-up, nhưng các câu như ok/cảm ơn được xử lý ở conversation layer, không đưa vào RAG.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Đây là điểm khác biệt về UX. Có thể kể lỗi thực tế đã sửa: người dùng nhắn ok mà bot tự giới thiệu lại; hiện đã có conversation acknowledgement layer.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Nói rõ guardrail có hai lớp: rule deterministic cho ca chắc chắn và LLM screening cho ngôn ngữ đa dạng. Dữ liệu được lọc trước khi vào context.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phút] Demo đúng thứ tự này. Không demo upload nếu thời gian ngắn. Nếu mạng/API có vấn đề, chuyển ngay sang slide screenshot tiếp theo và nói đây là fallback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Chỉ dùng slide này nếu demo trực tiếp bị chậm. Nhấn mạnh đây là screenshot từ ứng dụng đang chạy, không phải thiết kế tĩnh.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Giải thích test chạy qua trình duyệt thật: login, mở chat, gõ câu hỏi, Enter và đọc phản hồi render. Không chỉ gọi function nội bộ.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Nói thật: đủ dùng pilot nội bộ, chưa nên gọi là hoàn tất enterprise ở quy mô lớn nếu chưa có observability, SSO và governance tài liệu đầy đủ.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Đề xuất xin leader chốt pilot và tiêu chí đo. Không hứa tích hợp lớn ngay; ưu tiên đo chất lượng trước.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Không chỉ liệt kê công nghệ. Với từng lựa chọn, nói rõ bài toán nó giải quyết và cái giá phải trả. Điểm quan trọng: không có technique nào tốt tuyệt đối; các biện pháp giảm nhược điểm đã được đưa vào thiết kế.</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Mở IDE nếu leader muốn. Đi theo một request từ component qua API đến graph và generation. Nhấn mạnh ranh giới trách nhiệm của từng file; không giải thích code theo kiểu đọc từng dòng.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phút] Đưa ví dụ thật: lỗi ký tự đ được tìm bằng test privacy; lỗi ok reset do client intent; lỗi mobile được đo bằng viewport 320px. Mỗi lỗi chỉ sửa module sở hữu rồi chạy lại E2E. Coding agent không được tự mở rộng phạm vi.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phút Q&amp;A] Câu chốt: hệ thống đã sẵn sàng pilot nội bộ; bước tiếp theo không phải thêm nhiều feature mà là đo chất lượng, governance dữ liệu và tích hợp định danh.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955279" y="-1005840"/>
            <a:ext cx="5212080" cy="5212080"/>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0" y="2971800"/>
            <a:ext cx="3840480" cy="384048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49640" y="960120"/>
            <a:ext cx="1828800" cy="11887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143000"/>
            <a:ext cx="8046720" cy="1508760"/>
          </a:xfrm>
          <a:prstGeom prst="rect">
            <a:avLst/>
          </a:prstGeom>
          <a:noFill/>
        </p:spPr>
        <p:txBody>
          <a:bodyPr wrap="square" anchor="t">
            <a:spAutoFit/>
          </a:bodyPr>
          <a:lstStyle/>
          <a:p>
            <a:pPr algn="l">
              <a:defRPr sz="3400" b="1">
                <a:solidFill>
                  <a:srgbClr val="FFFFFF"/>
                </a:solidFill>
                <a:latin typeface="Aptos Display"/>
              </a:defRPr>
            </a:pPr>
            <a:r>
              <a:t>AI TRỢ LÝ HỎI ĐÁP</a:t>
            </a:r>
            <a:br/>
            <a:r>
              <a:t>CHÍNH SÁCH NHÂN SỰ</a:t>
            </a:r>
          </a:p>
        </p:txBody>
      </p:sp>
      <p:sp>
        <p:nvSpPr>
          <p:cNvPr id="7" name="TextBox 6"/>
          <p:cNvSpPr txBox="1"/>
          <p:nvPr/>
        </p:nvSpPr>
        <p:spPr>
          <a:xfrm>
            <a:off x="822960" y="2880360"/>
            <a:ext cx="6126480" cy="411480"/>
          </a:xfrm>
          <a:prstGeom prst="rect">
            <a:avLst/>
          </a:prstGeom>
          <a:noFill/>
        </p:spPr>
        <p:txBody>
          <a:bodyPr wrap="square" anchor="t">
            <a:spAutoFit/>
          </a:bodyPr>
          <a:lstStyle/>
          <a:p>
            <a:pPr algn="l">
              <a:defRPr sz="2000" b="1">
                <a:solidFill>
                  <a:srgbClr val="A5E0FF"/>
                </a:solidFill>
                <a:latin typeface="Aptos"/>
              </a:defRPr>
            </a:pPr>
            <a:r>
              <a:t>Gemini 2.5 Flash + Hybrid RAG</a:t>
            </a:r>
          </a:p>
        </p:txBody>
      </p:sp>
      <p:sp>
        <p:nvSpPr>
          <p:cNvPr id="8" name="TextBox 7"/>
          <p:cNvSpPr txBox="1"/>
          <p:nvPr/>
        </p:nvSpPr>
        <p:spPr>
          <a:xfrm>
            <a:off x="822960" y="3977639"/>
            <a:ext cx="5029200" cy="347472"/>
          </a:xfrm>
          <a:prstGeom prst="rect">
            <a:avLst/>
          </a:prstGeom>
          <a:noFill/>
        </p:spPr>
        <p:txBody>
          <a:bodyPr wrap="square" anchor="t">
            <a:spAutoFit/>
          </a:bodyPr>
          <a:lstStyle/>
          <a:p>
            <a:pPr algn="l">
              <a:defRPr sz="1600" b="1">
                <a:solidFill>
                  <a:srgbClr val="FFFFFF"/>
                </a:solidFill>
                <a:latin typeface="Aptos"/>
              </a:defRPr>
            </a:pPr>
            <a:r>
              <a:t>Demo nội bộ cho Team Leader</a:t>
            </a:r>
          </a:p>
        </p:txBody>
      </p:sp>
      <p:sp>
        <p:nvSpPr>
          <p:cNvPr id="9" name="TextBox 8"/>
          <p:cNvSpPr txBox="1"/>
          <p:nvPr/>
        </p:nvSpPr>
        <p:spPr>
          <a:xfrm>
            <a:off x="822960" y="4434840"/>
            <a:ext cx="6126480" cy="731520"/>
          </a:xfrm>
          <a:prstGeom prst="rect">
            <a:avLst/>
          </a:prstGeom>
          <a:noFill/>
        </p:spPr>
        <p:txBody>
          <a:bodyPr wrap="square" anchor="t">
            <a:spAutoFit/>
          </a:bodyPr>
          <a:lstStyle/>
          <a:p>
            <a:pPr algn="l">
              <a:defRPr sz="1700" b="0">
                <a:solidFill>
                  <a:srgbClr val="D3E0EF"/>
                </a:solidFill>
                <a:latin typeface="Aptos"/>
              </a:defRPr>
            </a:pPr>
            <a:r>
              <a:t>Từ tài liệu HR đến câu trả lời có kiểm soát, hội thoại tự nhiên và hành động được.</a:t>
            </a:r>
          </a:p>
        </p:txBody>
      </p:sp>
      <p:sp>
        <p:nvSpPr>
          <p:cNvPr id="10" name="TextBox 9"/>
          <p:cNvSpPr txBox="1"/>
          <p:nvPr/>
        </p:nvSpPr>
        <p:spPr>
          <a:xfrm>
            <a:off x="822960" y="5989320"/>
            <a:ext cx="5303520" cy="256032"/>
          </a:xfrm>
          <a:prstGeom prst="rect">
            <a:avLst/>
          </a:prstGeom>
          <a:noFill/>
        </p:spPr>
        <p:txBody>
          <a:bodyPr wrap="square" anchor="t">
            <a:spAutoFit/>
          </a:bodyPr>
          <a:lstStyle/>
          <a:p>
            <a:pPr algn="l">
              <a:defRPr sz="1000" b="1">
                <a:solidFill>
                  <a:srgbClr val="E5A923"/>
                </a:solidFill>
                <a:latin typeface="Aptos"/>
              </a:defRPr>
            </a:pPr>
            <a:r>
              <a:t>25 PHÚT TRÌNH BÀY  •  20 PHÚT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EXECUTIVE SNAPSHOT</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Tóm tắt trong 60 giây</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37744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10512"/>
            <a:ext cx="2048256" cy="411480"/>
          </a:xfrm>
          <a:prstGeom prst="rect">
            <a:avLst/>
          </a:prstGeom>
          <a:noFill/>
        </p:spPr>
        <p:txBody>
          <a:bodyPr wrap="square" anchor="t">
            <a:spAutoFit/>
          </a:bodyPr>
          <a:lstStyle/>
          <a:p>
            <a:pPr algn="l">
              <a:defRPr sz="2500" b="1">
                <a:solidFill>
                  <a:srgbClr val="085C94"/>
                </a:solidFill>
                <a:latin typeface="Aptos"/>
              </a:defRPr>
            </a:pPr>
            <a:r>
              <a:t>LLM + RAG</a:t>
            </a:r>
          </a:p>
        </p:txBody>
      </p:sp>
      <p:sp>
        <p:nvSpPr>
          <p:cNvPr id="7" name="TextBox 6"/>
          <p:cNvSpPr txBox="1"/>
          <p:nvPr/>
        </p:nvSpPr>
        <p:spPr>
          <a:xfrm>
            <a:off x="896112" y="2304288"/>
            <a:ext cx="2048256" cy="292608"/>
          </a:xfrm>
          <a:prstGeom prst="rect">
            <a:avLst/>
          </a:prstGeom>
          <a:noFill/>
        </p:spPr>
        <p:txBody>
          <a:bodyPr wrap="square" anchor="t">
            <a:spAutoFit/>
          </a:bodyPr>
          <a:lstStyle/>
          <a:p>
            <a:pPr algn="l">
              <a:defRPr sz="1100" b="0">
                <a:solidFill>
                  <a:srgbClr val="596B81"/>
                </a:solidFill>
                <a:latin typeface="Aptos"/>
              </a:defRPr>
            </a:pPr>
            <a:r>
              <a:t>Kiến trúc lõi</a:t>
            </a:r>
          </a:p>
        </p:txBody>
      </p:sp>
      <p:sp>
        <p:nvSpPr>
          <p:cNvPr id="8" name="Rounded Rectangle 7"/>
          <p:cNvSpPr/>
          <p:nvPr/>
        </p:nvSpPr>
        <p:spPr>
          <a:xfrm>
            <a:off x="3337560" y="1645920"/>
            <a:ext cx="237744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2152" y="1810512"/>
            <a:ext cx="2048256" cy="411480"/>
          </a:xfrm>
          <a:prstGeom prst="rect">
            <a:avLst/>
          </a:prstGeom>
          <a:noFill/>
        </p:spPr>
        <p:txBody>
          <a:bodyPr wrap="square" anchor="t">
            <a:spAutoFit/>
          </a:bodyPr>
          <a:lstStyle/>
          <a:p>
            <a:pPr algn="l">
              <a:defRPr sz="2500" b="1">
                <a:solidFill>
                  <a:srgbClr val="128C5B"/>
                </a:solidFill>
                <a:latin typeface="Aptos"/>
              </a:defRPr>
            </a:pPr>
            <a:r>
              <a:t>26 / 26</a:t>
            </a:r>
          </a:p>
        </p:txBody>
      </p:sp>
      <p:sp>
        <p:nvSpPr>
          <p:cNvPr id="10" name="TextBox 9"/>
          <p:cNvSpPr txBox="1"/>
          <p:nvPr/>
        </p:nvSpPr>
        <p:spPr>
          <a:xfrm>
            <a:off x="3502152" y="2304288"/>
            <a:ext cx="2048256" cy="292608"/>
          </a:xfrm>
          <a:prstGeom prst="rect">
            <a:avLst/>
          </a:prstGeom>
          <a:noFill/>
        </p:spPr>
        <p:txBody>
          <a:bodyPr wrap="square" anchor="t">
            <a:spAutoFit/>
          </a:bodyPr>
          <a:lstStyle/>
          <a:p>
            <a:pPr algn="l">
              <a:defRPr sz="1100" b="0">
                <a:solidFill>
                  <a:srgbClr val="596B81"/>
                </a:solidFill>
                <a:latin typeface="Aptos"/>
              </a:defRPr>
            </a:pPr>
            <a:r>
              <a:t>Web E2E scenarios passed</a:t>
            </a:r>
          </a:p>
        </p:txBody>
      </p:sp>
      <p:sp>
        <p:nvSpPr>
          <p:cNvPr id="11" name="Rounded Rectangle 10"/>
          <p:cNvSpPr/>
          <p:nvPr/>
        </p:nvSpPr>
        <p:spPr>
          <a:xfrm>
            <a:off x="5943600" y="1645920"/>
            <a:ext cx="237744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1810512"/>
            <a:ext cx="2048256" cy="411480"/>
          </a:xfrm>
          <a:prstGeom prst="rect">
            <a:avLst/>
          </a:prstGeom>
          <a:noFill/>
        </p:spPr>
        <p:txBody>
          <a:bodyPr wrap="square" anchor="t">
            <a:spAutoFit/>
          </a:bodyPr>
          <a:lstStyle/>
          <a:p>
            <a:pPr algn="l">
              <a:defRPr sz="2500" b="1">
                <a:solidFill>
                  <a:srgbClr val="E5A923"/>
                </a:solidFill>
                <a:latin typeface="Aptos"/>
              </a:defRPr>
            </a:pPr>
            <a:r>
              <a:t>3 roles</a:t>
            </a:r>
          </a:p>
        </p:txBody>
      </p:sp>
      <p:sp>
        <p:nvSpPr>
          <p:cNvPr id="13" name="TextBox 12"/>
          <p:cNvSpPr txBox="1"/>
          <p:nvPr/>
        </p:nvSpPr>
        <p:spPr>
          <a:xfrm>
            <a:off x="6108192" y="2304288"/>
            <a:ext cx="2048256" cy="292608"/>
          </a:xfrm>
          <a:prstGeom prst="rect">
            <a:avLst/>
          </a:prstGeom>
          <a:noFill/>
        </p:spPr>
        <p:txBody>
          <a:bodyPr wrap="square" anchor="t">
            <a:spAutoFit/>
          </a:bodyPr>
          <a:lstStyle/>
          <a:p>
            <a:pPr algn="l">
              <a:defRPr sz="1100" b="0">
                <a:solidFill>
                  <a:srgbClr val="596B81"/>
                </a:solidFill>
                <a:latin typeface="Aptos"/>
              </a:defRPr>
            </a:pPr>
            <a:r>
              <a:t>Employee / HR / Admin</a:t>
            </a:r>
          </a:p>
        </p:txBody>
      </p:sp>
      <p:sp>
        <p:nvSpPr>
          <p:cNvPr id="14" name="Rounded Rectangle 13"/>
          <p:cNvSpPr/>
          <p:nvPr/>
        </p:nvSpPr>
        <p:spPr>
          <a:xfrm>
            <a:off x="8549640" y="1645920"/>
            <a:ext cx="274320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14232" y="1810512"/>
            <a:ext cx="2414016" cy="411480"/>
          </a:xfrm>
          <a:prstGeom prst="rect">
            <a:avLst/>
          </a:prstGeom>
          <a:noFill/>
        </p:spPr>
        <p:txBody>
          <a:bodyPr wrap="square" anchor="t">
            <a:spAutoFit/>
          </a:bodyPr>
          <a:lstStyle/>
          <a:p>
            <a:pPr algn="l">
              <a:defRPr sz="2500" b="1">
                <a:solidFill>
                  <a:srgbClr val="0EA5E9"/>
                </a:solidFill>
                <a:latin typeface="Aptos"/>
              </a:defRPr>
            </a:pPr>
            <a:r>
              <a:t>Gemini 2.5</a:t>
            </a:r>
          </a:p>
        </p:txBody>
      </p:sp>
      <p:sp>
        <p:nvSpPr>
          <p:cNvPr id="16" name="TextBox 15"/>
          <p:cNvSpPr txBox="1"/>
          <p:nvPr/>
        </p:nvSpPr>
        <p:spPr>
          <a:xfrm>
            <a:off x="8714232" y="2304288"/>
            <a:ext cx="2414016" cy="292608"/>
          </a:xfrm>
          <a:prstGeom prst="rect">
            <a:avLst/>
          </a:prstGeom>
          <a:noFill/>
        </p:spPr>
        <p:txBody>
          <a:bodyPr wrap="square" anchor="t">
            <a:spAutoFit/>
          </a:bodyPr>
          <a:lstStyle/>
          <a:p>
            <a:pPr algn="l">
              <a:defRPr sz="1100" b="0">
                <a:solidFill>
                  <a:srgbClr val="596B81"/>
                </a:solidFill>
                <a:latin typeface="Aptos"/>
              </a:defRPr>
            </a:pPr>
            <a:r>
              <a:t>Flash generation + OCR option</a:t>
            </a:r>
          </a:p>
        </p:txBody>
      </p:sp>
      <p:sp>
        <p:nvSpPr>
          <p:cNvPr id="17" name="Rounded Rectangle 16"/>
          <p:cNvSpPr/>
          <p:nvPr/>
        </p:nvSpPr>
        <p:spPr>
          <a:xfrm>
            <a:off x="731520" y="3154680"/>
            <a:ext cx="10561320" cy="2148840"/>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456432"/>
            <a:ext cx="9966960" cy="1600200"/>
          </a:xfrm>
          <a:prstGeom prst="rect">
            <a:avLst/>
          </a:prstGeom>
          <a:noFill/>
        </p:spPr>
        <p:txBody>
          <a:bodyPr wrap="square">
            <a:spAutoFit/>
          </a:bodyPr>
          <a:lstStyle/>
          <a:p>
            <a:pPr>
              <a:spcAft>
                <a:spcPts val="1100"/>
              </a:spcAft>
              <a:defRPr sz="1600">
                <a:solidFill>
                  <a:srgbClr val="141F30"/>
                </a:solidFill>
                <a:latin typeface="Aptos"/>
              </a:defRPr>
            </a:pPr>
            <a:r>
              <a:t>•  Trả lời theo tài liệu HR nội bộ thay vì kiến thức chung của mô hình.</a:t>
            </a:r>
          </a:p>
          <a:p>
            <a:pPr>
              <a:spcAft>
                <a:spcPts val="1100"/>
              </a:spcAft>
              <a:defRPr sz="1600">
                <a:solidFill>
                  <a:srgbClr val="141F30"/>
                </a:solidFill>
                <a:latin typeface="Aptos"/>
              </a:defRPr>
            </a:pPr>
            <a:r>
              <a:t>•  Hiểu tiếng Việt đời thường, hỏi ngược khi thiếu dữ kiện và duy trì ngữ cảnh giữa chat nhỏ / màn lớn.</a:t>
            </a:r>
          </a:p>
          <a:p>
            <a:pPr>
              <a:spcAft>
                <a:spcPts val="1100"/>
              </a:spcAft>
              <a:defRPr sz="1600">
                <a:solidFill>
                  <a:srgbClr val="141F30"/>
                </a:solidFill>
                <a:latin typeface="Aptos"/>
              </a:defRPr>
            </a:pPr>
            <a:r>
              <a:t>•  Chặn câu ngoài phạm vi, prompt injection và yêu cầu dữ liệu cá nhân của người khác.</a:t>
            </a:r>
          </a:p>
          <a:p>
            <a:pPr>
              <a:spcAft>
                <a:spcPts val="1100"/>
              </a:spcAft>
              <a:defRPr sz="1600">
                <a:solidFill>
                  <a:srgbClr val="141F30"/>
                </a:solidFill>
                <a:latin typeface="Aptos"/>
              </a:defRPr>
            </a:pPr>
            <a:r>
              <a:t>•  Có luồng tạo đơn nghỉ nhiều lượt và chuyển tiếp HR cho trường hợp nhạy cảm.</a:t>
            </a:r>
          </a:p>
        </p:txBody>
      </p:sp>
      <p:sp>
        <p:nvSpPr>
          <p:cNvPr id="19" name="TextBox 18"/>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20" name="TextBox 19"/>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WHY THIS MATTERS</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Vấn đề cần giải quyết</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074920" cy="1600200"/>
          </a:xfrm>
          <a:prstGeom prst="roundRect">
            <a:avLst/>
          </a:prstGeom>
          <a:solidFill>
            <a:srgbClr val="FFFFFF"/>
          </a:solidFill>
          <a:ln>
            <a:solidFill>
              <a:srgbClr val="DC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83080"/>
            <a:ext cx="502920" cy="365760"/>
          </a:xfrm>
          <a:prstGeom prst="rect">
            <a:avLst/>
          </a:prstGeom>
          <a:noFill/>
        </p:spPr>
        <p:txBody>
          <a:bodyPr wrap="square" anchor="t">
            <a:spAutoFit/>
          </a:bodyPr>
          <a:lstStyle/>
          <a:p>
            <a:pPr algn="l">
              <a:defRPr sz="1700" b="1">
                <a:solidFill>
                  <a:srgbClr val="0EA5E9"/>
                </a:solidFill>
                <a:latin typeface="Aptos"/>
              </a:defRPr>
            </a:pPr>
            <a:r>
              <a:t>01</a:t>
            </a:r>
          </a:p>
        </p:txBody>
      </p:sp>
      <p:sp>
        <p:nvSpPr>
          <p:cNvPr id="7" name="TextBox 6"/>
          <p:cNvSpPr txBox="1"/>
          <p:nvPr/>
        </p:nvSpPr>
        <p:spPr>
          <a:xfrm>
            <a:off x="1508760" y="1783080"/>
            <a:ext cx="3931920" cy="365760"/>
          </a:xfrm>
          <a:prstGeom prst="rect">
            <a:avLst/>
          </a:prstGeom>
          <a:noFill/>
        </p:spPr>
        <p:txBody>
          <a:bodyPr wrap="square" anchor="t">
            <a:spAutoFit/>
          </a:bodyPr>
          <a:lstStyle/>
          <a:p>
            <a:pPr algn="l">
              <a:defRPr sz="1800" b="1">
                <a:solidFill>
                  <a:srgbClr val="082349"/>
                </a:solidFill>
                <a:latin typeface="Aptos"/>
              </a:defRPr>
            </a:pPr>
            <a:r>
              <a:t>Thông tin phân tán</a:t>
            </a:r>
          </a:p>
        </p:txBody>
      </p:sp>
      <p:sp>
        <p:nvSpPr>
          <p:cNvPr id="8" name="TextBox 7"/>
          <p:cNvSpPr txBox="1"/>
          <p:nvPr/>
        </p:nvSpPr>
        <p:spPr>
          <a:xfrm>
            <a:off x="1508760" y="2258568"/>
            <a:ext cx="3886200" cy="621792"/>
          </a:xfrm>
          <a:prstGeom prst="rect">
            <a:avLst/>
          </a:prstGeom>
          <a:noFill/>
        </p:spPr>
        <p:txBody>
          <a:bodyPr wrap="square" anchor="t">
            <a:spAutoFit/>
          </a:bodyPr>
          <a:lstStyle/>
          <a:p>
            <a:pPr algn="l">
              <a:defRPr sz="1400" b="0">
                <a:solidFill>
                  <a:srgbClr val="596B81"/>
                </a:solidFill>
                <a:latin typeface="Aptos"/>
              </a:defRPr>
            </a:pPr>
            <a:r>
              <a:t>PDF, DOCX, portal và quy định theo từng bộ phận.</a:t>
            </a:r>
          </a:p>
        </p:txBody>
      </p:sp>
      <p:sp>
        <p:nvSpPr>
          <p:cNvPr id="9" name="Rounded Rectangle 8"/>
          <p:cNvSpPr/>
          <p:nvPr/>
        </p:nvSpPr>
        <p:spPr>
          <a:xfrm>
            <a:off x="6217920" y="1600200"/>
            <a:ext cx="5074920" cy="1600200"/>
          </a:xfrm>
          <a:prstGeom prst="roundRect">
            <a:avLst/>
          </a:prstGeom>
          <a:solidFill>
            <a:srgbClr val="FFFFFF"/>
          </a:solidFill>
          <a:ln>
            <a:solidFill>
              <a:srgbClr val="DC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783080"/>
            <a:ext cx="502920" cy="365760"/>
          </a:xfrm>
          <a:prstGeom prst="rect">
            <a:avLst/>
          </a:prstGeom>
          <a:noFill/>
        </p:spPr>
        <p:txBody>
          <a:bodyPr wrap="square" anchor="t">
            <a:spAutoFit/>
          </a:bodyPr>
          <a:lstStyle/>
          <a:p>
            <a:pPr algn="l">
              <a:defRPr sz="1700" b="1">
                <a:solidFill>
                  <a:srgbClr val="0EA5E9"/>
                </a:solidFill>
                <a:latin typeface="Aptos"/>
              </a:defRPr>
            </a:pPr>
            <a:r>
              <a:t>02</a:t>
            </a:r>
          </a:p>
        </p:txBody>
      </p:sp>
      <p:sp>
        <p:nvSpPr>
          <p:cNvPr id="11" name="TextBox 10"/>
          <p:cNvSpPr txBox="1"/>
          <p:nvPr/>
        </p:nvSpPr>
        <p:spPr>
          <a:xfrm>
            <a:off x="6995159" y="1783080"/>
            <a:ext cx="3931920" cy="365760"/>
          </a:xfrm>
          <a:prstGeom prst="rect">
            <a:avLst/>
          </a:prstGeom>
          <a:noFill/>
        </p:spPr>
        <p:txBody>
          <a:bodyPr wrap="square" anchor="t">
            <a:spAutoFit/>
          </a:bodyPr>
          <a:lstStyle/>
          <a:p>
            <a:pPr algn="l">
              <a:defRPr sz="1800" b="1">
                <a:solidFill>
                  <a:srgbClr val="082349"/>
                </a:solidFill>
                <a:latin typeface="Aptos"/>
              </a:defRPr>
            </a:pPr>
            <a:r>
              <a:t>HR bị hỏi lặp lại</a:t>
            </a:r>
          </a:p>
        </p:txBody>
      </p:sp>
      <p:sp>
        <p:nvSpPr>
          <p:cNvPr id="12" name="TextBox 11"/>
          <p:cNvSpPr txBox="1"/>
          <p:nvPr/>
        </p:nvSpPr>
        <p:spPr>
          <a:xfrm>
            <a:off x="6995159" y="2258568"/>
            <a:ext cx="3886200" cy="621792"/>
          </a:xfrm>
          <a:prstGeom prst="rect">
            <a:avLst/>
          </a:prstGeom>
          <a:noFill/>
        </p:spPr>
        <p:txBody>
          <a:bodyPr wrap="square" anchor="t">
            <a:spAutoFit/>
          </a:bodyPr>
          <a:lstStyle/>
          <a:p>
            <a:pPr algn="l">
              <a:defRPr sz="1400" b="0">
                <a:solidFill>
                  <a:srgbClr val="596B81"/>
                </a:solidFill>
                <a:latin typeface="Aptos"/>
              </a:defRPr>
            </a:pPr>
            <a:r>
              <a:t>Nghỉ phép, chấm công, bảo hiểm, lương thưởng.</a:t>
            </a:r>
          </a:p>
        </p:txBody>
      </p:sp>
      <p:sp>
        <p:nvSpPr>
          <p:cNvPr id="13" name="Rounded Rectangle 12"/>
          <p:cNvSpPr/>
          <p:nvPr/>
        </p:nvSpPr>
        <p:spPr>
          <a:xfrm>
            <a:off x="731520" y="3657600"/>
            <a:ext cx="5074920" cy="1600200"/>
          </a:xfrm>
          <a:prstGeom prst="roundRect">
            <a:avLst/>
          </a:prstGeom>
          <a:solidFill>
            <a:srgbClr val="FFFFFF"/>
          </a:solidFill>
          <a:ln>
            <a:solidFill>
              <a:srgbClr val="DC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840480"/>
            <a:ext cx="502920" cy="365760"/>
          </a:xfrm>
          <a:prstGeom prst="rect">
            <a:avLst/>
          </a:prstGeom>
          <a:noFill/>
        </p:spPr>
        <p:txBody>
          <a:bodyPr wrap="square" anchor="t">
            <a:spAutoFit/>
          </a:bodyPr>
          <a:lstStyle/>
          <a:p>
            <a:pPr algn="l">
              <a:defRPr sz="1700" b="1">
                <a:solidFill>
                  <a:srgbClr val="0EA5E9"/>
                </a:solidFill>
                <a:latin typeface="Aptos"/>
              </a:defRPr>
            </a:pPr>
            <a:r>
              <a:t>03</a:t>
            </a:r>
          </a:p>
        </p:txBody>
      </p:sp>
      <p:sp>
        <p:nvSpPr>
          <p:cNvPr id="15" name="TextBox 14"/>
          <p:cNvSpPr txBox="1"/>
          <p:nvPr/>
        </p:nvSpPr>
        <p:spPr>
          <a:xfrm>
            <a:off x="1508760" y="3840480"/>
            <a:ext cx="3931920" cy="365760"/>
          </a:xfrm>
          <a:prstGeom prst="rect">
            <a:avLst/>
          </a:prstGeom>
          <a:noFill/>
        </p:spPr>
        <p:txBody>
          <a:bodyPr wrap="square" anchor="t">
            <a:spAutoFit/>
          </a:bodyPr>
          <a:lstStyle/>
          <a:p>
            <a:pPr algn="l">
              <a:defRPr sz="1800" b="1">
                <a:solidFill>
                  <a:srgbClr val="082349"/>
                </a:solidFill>
                <a:latin typeface="Aptos"/>
              </a:defRPr>
            </a:pPr>
            <a:r>
              <a:t>Rủi ro trả lời sai</a:t>
            </a:r>
          </a:p>
        </p:txBody>
      </p:sp>
      <p:sp>
        <p:nvSpPr>
          <p:cNvPr id="16" name="TextBox 15"/>
          <p:cNvSpPr txBox="1"/>
          <p:nvPr/>
        </p:nvSpPr>
        <p:spPr>
          <a:xfrm>
            <a:off x="1508760" y="4315968"/>
            <a:ext cx="3886200" cy="621792"/>
          </a:xfrm>
          <a:prstGeom prst="rect">
            <a:avLst/>
          </a:prstGeom>
          <a:noFill/>
        </p:spPr>
        <p:txBody>
          <a:bodyPr wrap="square" anchor="t">
            <a:spAutoFit/>
          </a:bodyPr>
          <a:lstStyle/>
          <a:p>
            <a:pPr algn="l">
              <a:defRPr sz="1400" b="0">
                <a:solidFill>
                  <a:srgbClr val="596B81"/>
                </a:solidFill>
                <a:latin typeface="Aptos"/>
              </a:defRPr>
            </a:pPr>
            <a:r>
              <a:t>LLM thuần có thể đoán hoặc dùng chính sách không đúng phiên bản.</a:t>
            </a:r>
          </a:p>
        </p:txBody>
      </p:sp>
      <p:sp>
        <p:nvSpPr>
          <p:cNvPr id="17" name="Rounded Rectangle 16"/>
          <p:cNvSpPr/>
          <p:nvPr/>
        </p:nvSpPr>
        <p:spPr>
          <a:xfrm>
            <a:off x="6217920" y="3657600"/>
            <a:ext cx="5074920" cy="1600200"/>
          </a:xfrm>
          <a:prstGeom prst="roundRect">
            <a:avLst/>
          </a:prstGeom>
          <a:solidFill>
            <a:srgbClr val="FFFFFF"/>
          </a:solidFill>
          <a:ln>
            <a:solidFill>
              <a:srgbClr val="DC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3840480"/>
            <a:ext cx="502920" cy="365760"/>
          </a:xfrm>
          <a:prstGeom prst="rect">
            <a:avLst/>
          </a:prstGeom>
          <a:noFill/>
        </p:spPr>
        <p:txBody>
          <a:bodyPr wrap="square" anchor="t">
            <a:spAutoFit/>
          </a:bodyPr>
          <a:lstStyle/>
          <a:p>
            <a:pPr algn="l">
              <a:defRPr sz="1700" b="1">
                <a:solidFill>
                  <a:srgbClr val="0EA5E9"/>
                </a:solidFill>
                <a:latin typeface="Aptos"/>
              </a:defRPr>
            </a:pPr>
            <a:r>
              <a:t>04</a:t>
            </a:r>
          </a:p>
        </p:txBody>
      </p:sp>
      <p:sp>
        <p:nvSpPr>
          <p:cNvPr id="19" name="TextBox 18"/>
          <p:cNvSpPr txBox="1"/>
          <p:nvPr/>
        </p:nvSpPr>
        <p:spPr>
          <a:xfrm>
            <a:off x="6995159" y="3840480"/>
            <a:ext cx="3931920" cy="365760"/>
          </a:xfrm>
          <a:prstGeom prst="rect">
            <a:avLst/>
          </a:prstGeom>
          <a:noFill/>
        </p:spPr>
        <p:txBody>
          <a:bodyPr wrap="square" anchor="t">
            <a:spAutoFit/>
          </a:bodyPr>
          <a:lstStyle/>
          <a:p>
            <a:pPr algn="l">
              <a:defRPr sz="1800" b="1">
                <a:solidFill>
                  <a:srgbClr val="082349"/>
                </a:solidFill>
                <a:latin typeface="Aptos"/>
              </a:defRPr>
            </a:pPr>
            <a:r>
              <a:t>Dữ liệu nhạy cảm</a:t>
            </a:r>
          </a:p>
        </p:txBody>
      </p:sp>
      <p:sp>
        <p:nvSpPr>
          <p:cNvPr id="20" name="TextBox 19"/>
          <p:cNvSpPr txBox="1"/>
          <p:nvPr/>
        </p:nvSpPr>
        <p:spPr>
          <a:xfrm>
            <a:off x="6995159" y="4315968"/>
            <a:ext cx="3886200" cy="621792"/>
          </a:xfrm>
          <a:prstGeom prst="rect">
            <a:avLst/>
          </a:prstGeom>
          <a:noFill/>
        </p:spPr>
        <p:txBody>
          <a:bodyPr wrap="square" anchor="t">
            <a:spAutoFit/>
          </a:bodyPr>
          <a:lstStyle/>
          <a:p>
            <a:pPr algn="l">
              <a:defRPr sz="1400" b="0">
                <a:solidFill>
                  <a:srgbClr val="596B81"/>
                </a:solidFill>
                <a:latin typeface="Aptos"/>
              </a:defRPr>
            </a:pPr>
            <a:r>
              <a:t>Lương, hồ sơ nhân sự và quyết định HR cần kiểm soát quyền truy cập.</a:t>
            </a:r>
          </a:p>
        </p:txBody>
      </p:sp>
      <p:sp>
        <p:nvSpPr>
          <p:cNvPr id="21" name="TextBox 20"/>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22" name="TextBox 21"/>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PRODUCT SCOPE</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Giải pháp: một cổng HR Helpdesk thống nhất</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246120" cy="425196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01952"/>
            <a:ext cx="2560320" cy="320040"/>
          </a:xfrm>
          <a:prstGeom prst="rect">
            <a:avLst/>
          </a:prstGeom>
          <a:noFill/>
        </p:spPr>
        <p:txBody>
          <a:bodyPr wrap="square" anchor="t">
            <a:spAutoFit/>
          </a:bodyPr>
          <a:lstStyle/>
          <a:p>
            <a:pPr algn="l">
              <a:defRPr sz="1400" b="1">
                <a:solidFill>
                  <a:srgbClr val="E5A923"/>
                </a:solidFill>
                <a:latin typeface="Aptos"/>
              </a:defRPr>
            </a:pPr>
            <a:r>
              <a:t>NHÂN VIÊN</a:t>
            </a:r>
          </a:p>
        </p:txBody>
      </p:sp>
      <p:sp>
        <p:nvSpPr>
          <p:cNvPr id="7" name="TextBox 6"/>
          <p:cNvSpPr txBox="1"/>
          <p:nvPr/>
        </p:nvSpPr>
        <p:spPr>
          <a:xfrm>
            <a:off x="1005840" y="2468880"/>
            <a:ext cx="2514600" cy="2377440"/>
          </a:xfrm>
          <a:prstGeom prst="rect">
            <a:avLst/>
          </a:prstGeom>
          <a:noFill/>
        </p:spPr>
        <p:txBody>
          <a:bodyPr wrap="square">
            <a:spAutoFit/>
          </a:bodyPr>
          <a:lstStyle/>
          <a:p>
            <a:pPr>
              <a:spcAft>
                <a:spcPts val="1100"/>
              </a:spcAft>
              <a:defRPr sz="1600">
                <a:solidFill>
                  <a:srgbClr val="FFFFFF"/>
                </a:solidFill>
                <a:latin typeface="Aptos"/>
              </a:defRPr>
            </a:pPr>
            <a:r>
              <a:t>•  Hỏi chính sách tự nhiên</a:t>
            </a:r>
          </a:p>
          <a:p>
            <a:pPr>
              <a:spcAft>
                <a:spcPts val="1100"/>
              </a:spcAft>
              <a:defRPr sz="1600">
                <a:solidFill>
                  <a:srgbClr val="FFFFFF"/>
                </a:solidFill>
                <a:latin typeface="Aptos"/>
              </a:defRPr>
            </a:pPr>
            <a:r>
              <a:t>•  Tạo đơn nghỉ nhiều lượt</a:t>
            </a:r>
          </a:p>
          <a:p>
            <a:pPr>
              <a:spcAft>
                <a:spcPts val="1100"/>
              </a:spcAft>
              <a:defRPr sz="1600">
                <a:solidFill>
                  <a:srgbClr val="FFFFFF"/>
                </a:solidFill>
                <a:latin typeface="Aptos"/>
              </a:defRPr>
            </a:pPr>
            <a:r>
              <a:t>•  Theo dõi yêu cầu</a:t>
            </a:r>
          </a:p>
          <a:p>
            <a:pPr>
              <a:spcAft>
                <a:spcPts val="1100"/>
              </a:spcAft>
              <a:defRPr sz="1600">
                <a:solidFill>
                  <a:srgbClr val="FFFFFF"/>
                </a:solidFill>
                <a:latin typeface="Aptos"/>
              </a:defRPr>
            </a:pPr>
            <a:r>
              <a:t>•  Chat trực tiếp với HR</a:t>
            </a:r>
          </a:p>
        </p:txBody>
      </p:sp>
      <p:sp>
        <p:nvSpPr>
          <p:cNvPr id="8" name="Rounded Rectangle 7"/>
          <p:cNvSpPr/>
          <p:nvPr/>
        </p:nvSpPr>
        <p:spPr>
          <a:xfrm>
            <a:off x="4480560" y="1600200"/>
            <a:ext cx="3246120" cy="4251960"/>
          </a:xfrm>
          <a:prstGeom prst="roundRect">
            <a:avLst/>
          </a:prstGeom>
          <a:solidFill>
            <a:srgbClr val="FFFFFF"/>
          </a:solidFill>
          <a:ln>
            <a:solidFill>
              <a:srgbClr val="D0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901952"/>
            <a:ext cx="2560320" cy="320040"/>
          </a:xfrm>
          <a:prstGeom prst="rect">
            <a:avLst/>
          </a:prstGeom>
          <a:noFill/>
        </p:spPr>
        <p:txBody>
          <a:bodyPr wrap="square" anchor="t">
            <a:spAutoFit/>
          </a:bodyPr>
          <a:lstStyle/>
          <a:p>
            <a:pPr algn="l">
              <a:defRPr sz="1400" b="1">
                <a:solidFill>
                  <a:srgbClr val="085C94"/>
                </a:solidFill>
                <a:latin typeface="Aptos"/>
              </a:defRPr>
            </a:pPr>
            <a:r>
              <a:t>HR</a:t>
            </a:r>
          </a:p>
        </p:txBody>
      </p:sp>
      <p:sp>
        <p:nvSpPr>
          <p:cNvPr id="10" name="TextBox 9"/>
          <p:cNvSpPr txBox="1"/>
          <p:nvPr/>
        </p:nvSpPr>
        <p:spPr>
          <a:xfrm>
            <a:off x="4754880" y="2468880"/>
            <a:ext cx="2514600" cy="2377440"/>
          </a:xfrm>
          <a:prstGeom prst="rect">
            <a:avLst/>
          </a:prstGeom>
          <a:noFill/>
        </p:spPr>
        <p:txBody>
          <a:bodyPr wrap="square">
            <a:spAutoFit/>
          </a:bodyPr>
          <a:lstStyle/>
          <a:p>
            <a:pPr>
              <a:spcAft>
                <a:spcPts val="1100"/>
              </a:spcAft>
              <a:defRPr sz="1600">
                <a:solidFill>
                  <a:srgbClr val="141F30"/>
                </a:solidFill>
                <a:latin typeface="Aptos"/>
              </a:defRPr>
            </a:pPr>
            <a:r>
              <a:t>•  Tiếp nhận handoff</a:t>
            </a:r>
          </a:p>
          <a:p>
            <a:pPr>
              <a:spcAft>
                <a:spcPts val="1100"/>
              </a:spcAft>
              <a:defRPr sz="1600">
                <a:solidFill>
                  <a:srgbClr val="141F30"/>
                </a:solidFill>
                <a:latin typeface="Aptos"/>
              </a:defRPr>
            </a:pPr>
            <a:r>
              <a:t>•  Xử lý yêu cầu</a:t>
            </a:r>
          </a:p>
          <a:p>
            <a:pPr>
              <a:spcAft>
                <a:spcPts val="1100"/>
              </a:spcAft>
              <a:defRPr sz="1600">
                <a:solidFill>
                  <a:srgbClr val="141F30"/>
                </a:solidFill>
                <a:latin typeface="Aptos"/>
              </a:defRPr>
            </a:pPr>
            <a:r>
              <a:t>•  Nạp tài liệu chính sách</a:t>
            </a:r>
          </a:p>
          <a:p>
            <a:pPr>
              <a:spcAft>
                <a:spcPts val="1100"/>
              </a:spcAft>
              <a:defRPr sz="1600">
                <a:solidFill>
                  <a:srgbClr val="141F30"/>
                </a:solidFill>
                <a:latin typeface="Aptos"/>
              </a:defRPr>
            </a:pPr>
            <a:r>
              <a:t>•  Kiểm tra câu trả lời</a:t>
            </a:r>
          </a:p>
        </p:txBody>
      </p:sp>
      <p:sp>
        <p:nvSpPr>
          <p:cNvPr id="11" name="Rounded Rectangle 10"/>
          <p:cNvSpPr/>
          <p:nvPr/>
        </p:nvSpPr>
        <p:spPr>
          <a:xfrm>
            <a:off x="8229600" y="1600200"/>
            <a:ext cx="3246120" cy="4251960"/>
          </a:xfrm>
          <a:prstGeom prst="roundRect">
            <a:avLst/>
          </a:prstGeom>
          <a:solidFill>
            <a:srgbClr val="F0F7FC"/>
          </a:solidFill>
          <a:ln>
            <a:solidFill>
              <a:srgbClr val="D0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901952"/>
            <a:ext cx="2560320" cy="320040"/>
          </a:xfrm>
          <a:prstGeom prst="rect">
            <a:avLst/>
          </a:prstGeom>
          <a:noFill/>
        </p:spPr>
        <p:txBody>
          <a:bodyPr wrap="square" anchor="t">
            <a:spAutoFit/>
          </a:bodyPr>
          <a:lstStyle/>
          <a:p>
            <a:pPr algn="l">
              <a:defRPr sz="1400" b="1">
                <a:solidFill>
                  <a:srgbClr val="C1373E"/>
                </a:solidFill>
                <a:latin typeface="Aptos"/>
              </a:defRPr>
            </a:pPr>
            <a:r>
              <a:t>ADMIN</a:t>
            </a:r>
          </a:p>
        </p:txBody>
      </p:sp>
      <p:sp>
        <p:nvSpPr>
          <p:cNvPr id="13" name="TextBox 12"/>
          <p:cNvSpPr txBox="1"/>
          <p:nvPr/>
        </p:nvSpPr>
        <p:spPr>
          <a:xfrm>
            <a:off x="8503920" y="2468880"/>
            <a:ext cx="2514600" cy="2377440"/>
          </a:xfrm>
          <a:prstGeom prst="rect">
            <a:avLst/>
          </a:prstGeom>
          <a:noFill/>
        </p:spPr>
        <p:txBody>
          <a:bodyPr wrap="square">
            <a:spAutoFit/>
          </a:bodyPr>
          <a:lstStyle/>
          <a:p>
            <a:pPr>
              <a:spcAft>
                <a:spcPts val="1100"/>
              </a:spcAft>
              <a:defRPr sz="1600">
                <a:solidFill>
                  <a:srgbClr val="141F30"/>
                </a:solidFill>
                <a:latin typeface="Aptos"/>
              </a:defRPr>
            </a:pPr>
            <a:r>
              <a:t>•  Quản lý tài khoản</a:t>
            </a:r>
          </a:p>
          <a:p>
            <a:pPr>
              <a:spcAft>
                <a:spcPts val="1100"/>
              </a:spcAft>
              <a:defRPr sz="1600">
                <a:solidFill>
                  <a:srgbClr val="141F30"/>
                </a:solidFill>
                <a:latin typeface="Aptos"/>
              </a:defRPr>
            </a:pPr>
            <a:r>
              <a:t>•  Phân quyền role</a:t>
            </a:r>
          </a:p>
          <a:p>
            <a:pPr>
              <a:spcAft>
                <a:spcPts val="1100"/>
              </a:spcAft>
              <a:defRPr sz="1600">
                <a:solidFill>
                  <a:srgbClr val="141F30"/>
                </a:solidFill>
                <a:latin typeface="Aptos"/>
              </a:defRPr>
            </a:pPr>
            <a:r>
              <a:t>•  Quản trị dữ liệu RAG</a:t>
            </a:r>
          </a:p>
          <a:p>
            <a:pPr>
              <a:spcAft>
                <a:spcPts val="1100"/>
              </a:spcAft>
              <a:defRPr sz="1600">
                <a:solidFill>
                  <a:srgbClr val="141F30"/>
                </a:solidFill>
                <a:latin typeface="Aptos"/>
              </a:defRPr>
            </a:pPr>
            <a:r>
              <a:t>•  Theo dõi lịch sử AI</a:t>
            </a:r>
          </a:p>
        </p:txBody>
      </p:sp>
      <p:sp>
        <p:nvSpPr>
          <p:cNvPr id="14" name="TextBox 13"/>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15" name="TextBox 14"/>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SYSTEM ARCHITECTURE</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Kiến trúc tổng thể</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965960"/>
            <a:ext cx="1691640" cy="2423160"/>
          </a:xfrm>
          <a:prstGeom prst="roundRect">
            <a:avLst/>
          </a:prstGeom>
          <a:solidFill>
            <a:srgbClr val="FFFFFF"/>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1691640" cy="164592"/>
          </a:xfrm>
          <a:prstGeom prst="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331720"/>
            <a:ext cx="1389888" cy="594360"/>
          </a:xfrm>
          <a:prstGeom prst="rect">
            <a:avLst/>
          </a:prstGeom>
          <a:noFill/>
        </p:spPr>
        <p:txBody>
          <a:bodyPr wrap="square" anchor="t">
            <a:spAutoFit/>
          </a:bodyPr>
          <a:lstStyle/>
          <a:p>
            <a:pPr algn="ctr">
              <a:defRPr sz="1600" b="1">
                <a:solidFill>
                  <a:srgbClr val="085C94"/>
                </a:solidFill>
                <a:latin typeface="Aptos"/>
              </a:defRPr>
            </a:pPr>
            <a:r>
              <a:t>React / Vite</a:t>
            </a:r>
          </a:p>
        </p:txBody>
      </p:sp>
      <p:sp>
        <p:nvSpPr>
          <p:cNvPr id="8" name="TextBox 7"/>
          <p:cNvSpPr txBox="1"/>
          <p:nvPr/>
        </p:nvSpPr>
        <p:spPr>
          <a:xfrm>
            <a:off x="822960" y="3154680"/>
            <a:ext cx="1417320" cy="777240"/>
          </a:xfrm>
          <a:prstGeom prst="rect">
            <a:avLst/>
          </a:prstGeom>
          <a:noFill/>
        </p:spPr>
        <p:txBody>
          <a:bodyPr wrap="square" anchor="t">
            <a:spAutoFit/>
          </a:bodyPr>
          <a:lstStyle/>
          <a:p>
            <a:pPr algn="ctr">
              <a:defRPr sz="1200" b="0">
                <a:solidFill>
                  <a:srgbClr val="596B81"/>
                </a:solidFill>
                <a:latin typeface="Aptos"/>
              </a:defRPr>
            </a:pPr>
            <a:r>
              <a:t>Responsive UI</a:t>
            </a:r>
            <a:br/>
            <a:r>
              <a:t>Full chat + widget</a:t>
            </a:r>
          </a:p>
        </p:txBody>
      </p:sp>
      <p:sp>
        <p:nvSpPr>
          <p:cNvPr id="9" name="TextBox 8"/>
          <p:cNvSpPr txBox="1"/>
          <p:nvPr/>
        </p:nvSpPr>
        <p:spPr>
          <a:xfrm>
            <a:off x="2432304" y="2880360"/>
            <a:ext cx="457200" cy="365760"/>
          </a:xfrm>
          <a:prstGeom prst="rect">
            <a:avLst/>
          </a:prstGeom>
          <a:noFill/>
        </p:spPr>
        <p:txBody>
          <a:bodyPr wrap="square" anchor="t">
            <a:spAutoFit/>
          </a:bodyPr>
          <a:lstStyle/>
          <a:p>
            <a:pPr algn="ctr">
              <a:defRPr sz="2200" b="1">
                <a:solidFill>
                  <a:srgbClr val="596B81"/>
                </a:solidFill>
                <a:latin typeface="Aptos"/>
              </a:defRPr>
            </a:pPr>
            <a:r>
              <a:t>→</a:t>
            </a:r>
          </a:p>
        </p:txBody>
      </p:sp>
      <p:sp>
        <p:nvSpPr>
          <p:cNvPr id="10" name="Rounded Rectangle 9"/>
          <p:cNvSpPr/>
          <p:nvPr/>
        </p:nvSpPr>
        <p:spPr>
          <a:xfrm>
            <a:off x="2971800" y="1965960"/>
            <a:ext cx="1691640" cy="2423160"/>
          </a:xfrm>
          <a:prstGeom prst="roundRect">
            <a:avLst/>
          </a:prstGeom>
          <a:solidFill>
            <a:srgbClr val="FFFFFF"/>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691640" cy="164592"/>
          </a:xfrm>
          <a:prstGeom prst="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18104" y="2331720"/>
            <a:ext cx="1389888" cy="594360"/>
          </a:xfrm>
          <a:prstGeom prst="rect">
            <a:avLst/>
          </a:prstGeom>
          <a:noFill/>
        </p:spPr>
        <p:txBody>
          <a:bodyPr wrap="square" anchor="t">
            <a:spAutoFit/>
          </a:bodyPr>
          <a:lstStyle/>
          <a:p>
            <a:pPr algn="ctr">
              <a:defRPr sz="1600" b="1">
                <a:solidFill>
                  <a:srgbClr val="082349"/>
                </a:solidFill>
                <a:latin typeface="Aptos"/>
              </a:defRPr>
            </a:pPr>
            <a:r>
              <a:t>FastAPI</a:t>
            </a:r>
          </a:p>
        </p:txBody>
      </p:sp>
      <p:sp>
        <p:nvSpPr>
          <p:cNvPr id="13" name="TextBox 12"/>
          <p:cNvSpPr txBox="1"/>
          <p:nvPr/>
        </p:nvSpPr>
        <p:spPr>
          <a:xfrm>
            <a:off x="3108960" y="3154680"/>
            <a:ext cx="1417320" cy="777240"/>
          </a:xfrm>
          <a:prstGeom prst="rect">
            <a:avLst/>
          </a:prstGeom>
          <a:noFill/>
        </p:spPr>
        <p:txBody>
          <a:bodyPr wrap="square" anchor="t">
            <a:spAutoFit/>
          </a:bodyPr>
          <a:lstStyle/>
          <a:p>
            <a:pPr algn="ctr">
              <a:defRPr sz="1200" b="0">
                <a:solidFill>
                  <a:srgbClr val="596B81"/>
                </a:solidFill>
                <a:latin typeface="Aptos"/>
              </a:defRPr>
            </a:pPr>
            <a:r>
              <a:t>Auth • RBAC • Chat API</a:t>
            </a:r>
            <a:br/>
            <a:r>
              <a:t>Upload • HR workflow</a:t>
            </a:r>
          </a:p>
        </p:txBody>
      </p:sp>
      <p:sp>
        <p:nvSpPr>
          <p:cNvPr id="14" name="TextBox 13"/>
          <p:cNvSpPr txBox="1"/>
          <p:nvPr/>
        </p:nvSpPr>
        <p:spPr>
          <a:xfrm>
            <a:off x="4718304" y="2880360"/>
            <a:ext cx="457200" cy="365760"/>
          </a:xfrm>
          <a:prstGeom prst="rect">
            <a:avLst/>
          </a:prstGeom>
          <a:noFill/>
        </p:spPr>
        <p:txBody>
          <a:bodyPr wrap="square" anchor="t">
            <a:spAutoFit/>
          </a:bodyPr>
          <a:lstStyle/>
          <a:p>
            <a:pPr algn="ctr">
              <a:defRPr sz="2200" b="1">
                <a:solidFill>
                  <a:srgbClr val="596B81"/>
                </a:solidFill>
                <a:latin typeface="Aptos"/>
              </a:defRPr>
            </a:pPr>
            <a:r>
              <a:t>→</a:t>
            </a:r>
          </a:p>
        </p:txBody>
      </p:sp>
      <p:sp>
        <p:nvSpPr>
          <p:cNvPr id="15" name="Rounded Rectangle 14"/>
          <p:cNvSpPr/>
          <p:nvPr/>
        </p:nvSpPr>
        <p:spPr>
          <a:xfrm>
            <a:off x="5257800" y="1965960"/>
            <a:ext cx="1691640" cy="2423160"/>
          </a:xfrm>
          <a:prstGeom prst="roundRect">
            <a:avLst/>
          </a:prstGeom>
          <a:solidFill>
            <a:srgbClr val="FFFFFF"/>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57800" y="1965960"/>
            <a:ext cx="1691640" cy="164592"/>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04104" y="2331720"/>
            <a:ext cx="1389888" cy="594360"/>
          </a:xfrm>
          <a:prstGeom prst="rect">
            <a:avLst/>
          </a:prstGeom>
          <a:noFill/>
        </p:spPr>
        <p:txBody>
          <a:bodyPr wrap="square" anchor="t">
            <a:spAutoFit/>
          </a:bodyPr>
          <a:lstStyle/>
          <a:p>
            <a:pPr algn="ctr">
              <a:defRPr sz="1600" b="1">
                <a:solidFill>
                  <a:srgbClr val="0EA5E9"/>
                </a:solidFill>
                <a:latin typeface="Aptos"/>
              </a:defRPr>
            </a:pPr>
            <a:r>
              <a:t>Hybrid RAG</a:t>
            </a:r>
          </a:p>
        </p:txBody>
      </p:sp>
      <p:sp>
        <p:nvSpPr>
          <p:cNvPr id="18" name="TextBox 17"/>
          <p:cNvSpPr txBox="1"/>
          <p:nvPr/>
        </p:nvSpPr>
        <p:spPr>
          <a:xfrm>
            <a:off x="5394960" y="3154680"/>
            <a:ext cx="1417320" cy="777240"/>
          </a:xfrm>
          <a:prstGeom prst="rect">
            <a:avLst/>
          </a:prstGeom>
          <a:noFill/>
        </p:spPr>
        <p:txBody>
          <a:bodyPr wrap="square" anchor="t">
            <a:spAutoFit/>
          </a:bodyPr>
          <a:lstStyle/>
          <a:p>
            <a:pPr algn="ctr">
              <a:defRPr sz="1200" b="0">
                <a:solidFill>
                  <a:srgbClr val="596B81"/>
                </a:solidFill>
                <a:latin typeface="Aptos"/>
              </a:defRPr>
            </a:pPr>
            <a:r>
              <a:t>Semantic + BM25</a:t>
            </a:r>
            <a:br/>
            <a:r>
              <a:t>RRF + reranking</a:t>
            </a:r>
          </a:p>
        </p:txBody>
      </p:sp>
      <p:sp>
        <p:nvSpPr>
          <p:cNvPr id="19" name="TextBox 18"/>
          <p:cNvSpPr txBox="1"/>
          <p:nvPr/>
        </p:nvSpPr>
        <p:spPr>
          <a:xfrm>
            <a:off x="7004304" y="2880360"/>
            <a:ext cx="457200" cy="365760"/>
          </a:xfrm>
          <a:prstGeom prst="rect">
            <a:avLst/>
          </a:prstGeom>
          <a:noFill/>
        </p:spPr>
        <p:txBody>
          <a:bodyPr wrap="square" anchor="t">
            <a:spAutoFit/>
          </a:bodyPr>
          <a:lstStyle/>
          <a:p>
            <a:pPr algn="ctr">
              <a:defRPr sz="2200" b="1">
                <a:solidFill>
                  <a:srgbClr val="596B81"/>
                </a:solidFill>
                <a:latin typeface="Aptos"/>
              </a:defRPr>
            </a:pPr>
            <a:r>
              <a:t>→</a:t>
            </a:r>
          </a:p>
        </p:txBody>
      </p:sp>
      <p:sp>
        <p:nvSpPr>
          <p:cNvPr id="20" name="Rounded Rectangle 19"/>
          <p:cNvSpPr/>
          <p:nvPr/>
        </p:nvSpPr>
        <p:spPr>
          <a:xfrm>
            <a:off x="7543800" y="1965960"/>
            <a:ext cx="1691640" cy="2423160"/>
          </a:xfrm>
          <a:prstGeom prst="roundRect">
            <a:avLst/>
          </a:prstGeom>
          <a:solidFill>
            <a:srgbClr val="FFFFFF"/>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43800" y="1965960"/>
            <a:ext cx="1691640" cy="1645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0104" y="2331720"/>
            <a:ext cx="1389888" cy="594360"/>
          </a:xfrm>
          <a:prstGeom prst="rect">
            <a:avLst/>
          </a:prstGeom>
          <a:noFill/>
        </p:spPr>
        <p:txBody>
          <a:bodyPr wrap="square" anchor="t">
            <a:spAutoFit/>
          </a:bodyPr>
          <a:lstStyle/>
          <a:p>
            <a:pPr algn="ctr">
              <a:defRPr sz="1600" b="1">
                <a:solidFill>
                  <a:srgbClr val="E5A923"/>
                </a:solidFill>
                <a:latin typeface="Aptos"/>
              </a:defRPr>
            </a:pPr>
            <a:r>
              <a:t>Gemini 2.5 Flash</a:t>
            </a:r>
          </a:p>
        </p:txBody>
      </p:sp>
      <p:sp>
        <p:nvSpPr>
          <p:cNvPr id="23" name="TextBox 22"/>
          <p:cNvSpPr txBox="1"/>
          <p:nvPr/>
        </p:nvSpPr>
        <p:spPr>
          <a:xfrm>
            <a:off x="7680960" y="3154680"/>
            <a:ext cx="1417320" cy="777240"/>
          </a:xfrm>
          <a:prstGeom prst="rect">
            <a:avLst/>
          </a:prstGeom>
          <a:noFill/>
        </p:spPr>
        <p:txBody>
          <a:bodyPr wrap="square" anchor="t">
            <a:spAutoFit/>
          </a:bodyPr>
          <a:lstStyle/>
          <a:p>
            <a:pPr algn="ctr">
              <a:defRPr sz="1200" b="0">
                <a:solidFill>
                  <a:srgbClr val="596B81"/>
                </a:solidFill>
                <a:latin typeface="Aptos"/>
              </a:defRPr>
            </a:pPr>
            <a:r>
              <a:t>Query screening</a:t>
            </a:r>
            <a:br/>
            <a:r>
              <a:t>Generation • optional OCR</a:t>
            </a:r>
          </a:p>
        </p:txBody>
      </p:sp>
      <p:sp>
        <p:nvSpPr>
          <p:cNvPr id="24" name="TextBox 23"/>
          <p:cNvSpPr txBox="1"/>
          <p:nvPr/>
        </p:nvSpPr>
        <p:spPr>
          <a:xfrm>
            <a:off x="9290304" y="2880360"/>
            <a:ext cx="457200" cy="365760"/>
          </a:xfrm>
          <a:prstGeom prst="rect">
            <a:avLst/>
          </a:prstGeom>
          <a:noFill/>
        </p:spPr>
        <p:txBody>
          <a:bodyPr wrap="square" anchor="t">
            <a:spAutoFit/>
          </a:bodyPr>
          <a:lstStyle/>
          <a:p>
            <a:pPr algn="ctr">
              <a:defRPr sz="2200" b="1">
                <a:solidFill>
                  <a:srgbClr val="596B81"/>
                </a:solidFill>
                <a:latin typeface="Aptos"/>
              </a:defRPr>
            </a:pPr>
            <a:r>
              <a:t>→</a:t>
            </a:r>
          </a:p>
        </p:txBody>
      </p:sp>
      <p:sp>
        <p:nvSpPr>
          <p:cNvPr id="25" name="Rounded Rectangle 24"/>
          <p:cNvSpPr/>
          <p:nvPr/>
        </p:nvSpPr>
        <p:spPr>
          <a:xfrm>
            <a:off x="9829800" y="1965960"/>
            <a:ext cx="1691640" cy="2423160"/>
          </a:xfrm>
          <a:prstGeom prst="roundRect">
            <a:avLst/>
          </a:prstGeom>
          <a:solidFill>
            <a:srgbClr val="FFFFFF"/>
          </a:solidFill>
          <a:ln>
            <a:solidFill>
              <a:srgbClr val="CFD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829800" y="1965960"/>
            <a:ext cx="1691640" cy="164592"/>
          </a:xfrm>
          <a:prstGeom prst="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76104" y="2331720"/>
            <a:ext cx="1389888" cy="594360"/>
          </a:xfrm>
          <a:prstGeom prst="rect">
            <a:avLst/>
          </a:prstGeom>
          <a:noFill/>
        </p:spPr>
        <p:txBody>
          <a:bodyPr wrap="square" anchor="t">
            <a:spAutoFit/>
          </a:bodyPr>
          <a:lstStyle/>
          <a:p>
            <a:pPr algn="ctr">
              <a:defRPr sz="1600" b="1">
                <a:solidFill>
                  <a:srgbClr val="128C5B"/>
                </a:solidFill>
                <a:latin typeface="Aptos"/>
              </a:defRPr>
            </a:pPr>
            <a:r>
              <a:t>Data layer</a:t>
            </a:r>
          </a:p>
        </p:txBody>
      </p:sp>
      <p:sp>
        <p:nvSpPr>
          <p:cNvPr id="28" name="TextBox 27"/>
          <p:cNvSpPr txBox="1"/>
          <p:nvPr/>
        </p:nvSpPr>
        <p:spPr>
          <a:xfrm>
            <a:off x="9966960" y="3154680"/>
            <a:ext cx="1417320" cy="777240"/>
          </a:xfrm>
          <a:prstGeom prst="rect">
            <a:avLst/>
          </a:prstGeom>
          <a:noFill/>
        </p:spPr>
        <p:txBody>
          <a:bodyPr wrap="square" anchor="t">
            <a:spAutoFit/>
          </a:bodyPr>
          <a:lstStyle/>
          <a:p>
            <a:pPr algn="ctr">
              <a:defRPr sz="1200" b="0">
                <a:solidFill>
                  <a:srgbClr val="596B81"/>
                </a:solidFill>
                <a:latin typeface="Aptos"/>
              </a:defRPr>
            </a:pPr>
            <a:r>
              <a:t>Markdown chunks</a:t>
            </a:r>
            <a:br/>
            <a:r>
              <a:t>Chroma + JSON index</a:t>
            </a:r>
          </a:p>
        </p:txBody>
      </p:sp>
      <p:sp>
        <p:nvSpPr>
          <p:cNvPr id="29" name="Rounded Rectangle 28"/>
          <p:cNvSpPr/>
          <p:nvPr/>
        </p:nvSpPr>
        <p:spPr>
          <a:xfrm>
            <a:off x="914400" y="4983480"/>
            <a:ext cx="10241280" cy="658368"/>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175504"/>
            <a:ext cx="9784080" cy="274320"/>
          </a:xfrm>
          <a:prstGeom prst="rect">
            <a:avLst/>
          </a:prstGeom>
          <a:noFill/>
        </p:spPr>
        <p:txBody>
          <a:bodyPr wrap="square" anchor="t">
            <a:spAutoFit/>
          </a:bodyPr>
          <a:lstStyle/>
          <a:p>
            <a:pPr algn="ctr">
              <a:defRPr sz="1500" b="1">
                <a:solidFill>
                  <a:srgbClr val="082349"/>
                </a:solidFill>
                <a:latin typeface="Aptos"/>
              </a:defRPr>
            </a:pPr>
            <a:r>
              <a:t>Nguyên tắc: quyền truy cập được lọc trước khi context đi vào LLM.</a:t>
            </a:r>
          </a:p>
        </p:txBody>
      </p:sp>
      <p:sp>
        <p:nvSpPr>
          <p:cNvPr id="31" name="TextBox 30"/>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2" name="TextBox 31"/>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INGESTION PIPELINE</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Từ tài liệu thô đến tri thức truy xuất được</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828800"/>
            <a:ext cx="1874519" cy="24688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80160" y="1536192"/>
            <a:ext cx="640080" cy="64008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664208"/>
            <a:ext cx="640080" cy="274320"/>
          </a:xfrm>
          <a:prstGeom prst="rect">
            <a:avLst/>
          </a:prstGeom>
          <a:noFill/>
        </p:spPr>
        <p:txBody>
          <a:bodyPr wrap="square" anchor="t">
            <a:spAutoFit/>
          </a:bodyPr>
          <a:lstStyle/>
          <a:p>
            <a:pPr algn="ctr">
              <a:defRPr sz="1700" b="1">
                <a:solidFill>
                  <a:srgbClr val="FFFFFF"/>
                </a:solidFill>
                <a:latin typeface="Aptos"/>
              </a:defRPr>
            </a:pPr>
            <a:r>
              <a:t>1</a:t>
            </a:r>
          </a:p>
        </p:txBody>
      </p:sp>
      <p:sp>
        <p:nvSpPr>
          <p:cNvPr id="8" name="TextBox 7"/>
          <p:cNvSpPr txBox="1"/>
          <p:nvPr/>
        </p:nvSpPr>
        <p:spPr>
          <a:xfrm>
            <a:off x="822959" y="2423160"/>
            <a:ext cx="1554480" cy="320040"/>
          </a:xfrm>
          <a:prstGeom prst="rect">
            <a:avLst/>
          </a:prstGeom>
          <a:noFill/>
        </p:spPr>
        <p:txBody>
          <a:bodyPr wrap="square" anchor="t">
            <a:spAutoFit/>
          </a:bodyPr>
          <a:lstStyle/>
          <a:p>
            <a:pPr algn="ctr">
              <a:defRPr sz="1700" b="1">
                <a:solidFill>
                  <a:srgbClr val="082349"/>
                </a:solidFill>
                <a:latin typeface="Aptos"/>
              </a:defRPr>
            </a:pPr>
            <a:r>
              <a:t>Extract</a:t>
            </a:r>
          </a:p>
        </p:txBody>
      </p:sp>
      <p:sp>
        <p:nvSpPr>
          <p:cNvPr id="9" name="TextBox 8"/>
          <p:cNvSpPr txBox="1"/>
          <p:nvPr/>
        </p:nvSpPr>
        <p:spPr>
          <a:xfrm>
            <a:off x="822959" y="3017520"/>
            <a:ext cx="1554480" cy="685800"/>
          </a:xfrm>
          <a:prstGeom prst="rect">
            <a:avLst/>
          </a:prstGeom>
          <a:noFill/>
        </p:spPr>
        <p:txBody>
          <a:bodyPr wrap="square" anchor="t">
            <a:spAutoFit/>
          </a:bodyPr>
          <a:lstStyle/>
          <a:p>
            <a:pPr algn="ctr">
              <a:defRPr sz="1300" b="0">
                <a:solidFill>
                  <a:srgbClr val="596B81"/>
                </a:solidFill>
                <a:latin typeface="Aptos"/>
              </a:defRPr>
            </a:pPr>
            <a:r>
              <a:t>PDF / DOCX / PPTX</a:t>
            </a:r>
            <a:br/>
            <a:r>
              <a:t>OCR khi cần</a:t>
            </a:r>
          </a:p>
        </p:txBody>
      </p:sp>
      <p:sp>
        <p:nvSpPr>
          <p:cNvPr id="10" name="Rounded Rectangle 9"/>
          <p:cNvSpPr/>
          <p:nvPr/>
        </p:nvSpPr>
        <p:spPr>
          <a:xfrm>
            <a:off x="2962656" y="1828800"/>
            <a:ext cx="1874519" cy="24688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84448" y="1536192"/>
            <a:ext cx="640080" cy="64008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1664208"/>
            <a:ext cx="640080" cy="274320"/>
          </a:xfrm>
          <a:prstGeom prst="rect">
            <a:avLst/>
          </a:prstGeom>
          <a:noFill/>
        </p:spPr>
        <p:txBody>
          <a:bodyPr wrap="square" anchor="t">
            <a:spAutoFit/>
          </a:bodyPr>
          <a:lstStyle/>
          <a:p>
            <a:pPr algn="ctr">
              <a:defRPr sz="1700" b="1">
                <a:solidFill>
                  <a:srgbClr val="FFFFFF"/>
                </a:solidFill>
                <a:latin typeface="Aptos"/>
              </a:defRPr>
            </a:pPr>
            <a:r>
              <a:t>2</a:t>
            </a:r>
          </a:p>
        </p:txBody>
      </p:sp>
      <p:sp>
        <p:nvSpPr>
          <p:cNvPr id="13" name="TextBox 12"/>
          <p:cNvSpPr txBox="1"/>
          <p:nvPr/>
        </p:nvSpPr>
        <p:spPr>
          <a:xfrm>
            <a:off x="3127248" y="2423160"/>
            <a:ext cx="1554480" cy="320040"/>
          </a:xfrm>
          <a:prstGeom prst="rect">
            <a:avLst/>
          </a:prstGeom>
          <a:noFill/>
        </p:spPr>
        <p:txBody>
          <a:bodyPr wrap="square" anchor="t">
            <a:spAutoFit/>
          </a:bodyPr>
          <a:lstStyle/>
          <a:p>
            <a:pPr algn="ctr">
              <a:defRPr sz="1700" b="1">
                <a:solidFill>
                  <a:srgbClr val="082349"/>
                </a:solidFill>
                <a:latin typeface="Aptos"/>
              </a:defRPr>
            </a:pPr>
            <a:r>
              <a:t>Normalize</a:t>
            </a:r>
          </a:p>
        </p:txBody>
      </p:sp>
      <p:sp>
        <p:nvSpPr>
          <p:cNvPr id="14" name="TextBox 13"/>
          <p:cNvSpPr txBox="1"/>
          <p:nvPr/>
        </p:nvSpPr>
        <p:spPr>
          <a:xfrm>
            <a:off x="3127248" y="3017520"/>
            <a:ext cx="1554480" cy="685800"/>
          </a:xfrm>
          <a:prstGeom prst="rect">
            <a:avLst/>
          </a:prstGeom>
          <a:noFill/>
        </p:spPr>
        <p:txBody>
          <a:bodyPr wrap="square" anchor="t">
            <a:spAutoFit/>
          </a:bodyPr>
          <a:lstStyle/>
          <a:p>
            <a:pPr algn="ctr">
              <a:defRPr sz="1300" b="0">
                <a:solidFill>
                  <a:srgbClr val="596B81"/>
                </a:solidFill>
                <a:latin typeface="Aptos"/>
              </a:defRPr>
            </a:pPr>
            <a:r>
              <a:t>Markdown sạch</a:t>
            </a:r>
            <a:br/>
            <a:r>
              <a:t>heading hierarchy</a:t>
            </a:r>
          </a:p>
        </p:txBody>
      </p:sp>
      <p:sp>
        <p:nvSpPr>
          <p:cNvPr id="15" name="Rounded Rectangle 14"/>
          <p:cNvSpPr/>
          <p:nvPr/>
        </p:nvSpPr>
        <p:spPr>
          <a:xfrm>
            <a:off x="5266944" y="1828800"/>
            <a:ext cx="1874519" cy="24688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1536192"/>
            <a:ext cx="640080" cy="64008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88736" y="1664208"/>
            <a:ext cx="640080" cy="274320"/>
          </a:xfrm>
          <a:prstGeom prst="rect">
            <a:avLst/>
          </a:prstGeom>
          <a:noFill/>
        </p:spPr>
        <p:txBody>
          <a:bodyPr wrap="square" anchor="t">
            <a:spAutoFit/>
          </a:bodyPr>
          <a:lstStyle/>
          <a:p>
            <a:pPr algn="ctr">
              <a:defRPr sz="1700" b="1">
                <a:solidFill>
                  <a:srgbClr val="FFFFFF"/>
                </a:solidFill>
                <a:latin typeface="Aptos"/>
              </a:defRPr>
            </a:pPr>
            <a:r>
              <a:t>3</a:t>
            </a:r>
          </a:p>
        </p:txBody>
      </p:sp>
      <p:sp>
        <p:nvSpPr>
          <p:cNvPr id="18" name="TextBox 17"/>
          <p:cNvSpPr txBox="1"/>
          <p:nvPr/>
        </p:nvSpPr>
        <p:spPr>
          <a:xfrm>
            <a:off x="5431536" y="2423160"/>
            <a:ext cx="1554480" cy="320040"/>
          </a:xfrm>
          <a:prstGeom prst="rect">
            <a:avLst/>
          </a:prstGeom>
          <a:noFill/>
        </p:spPr>
        <p:txBody>
          <a:bodyPr wrap="square" anchor="t">
            <a:spAutoFit/>
          </a:bodyPr>
          <a:lstStyle/>
          <a:p>
            <a:pPr algn="ctr">
              <a:defRPr sz="1700" b="1">
                <a:solidFill>
                  <a:srgbClr val="082349"/>
                </a:solidFill>
                <a:latin typeface="Aptos"/>
              </a:defRPr>
            </a:pPr>
            <a:r>
              <a:t>Atomic chunk</a:t>
            </a:r>
          </a:p>
        </p:txBody>
      </p:sp>
      <p:sp>
        <p:nvSpPr>
          <p:cNvPr id="19" name="TextBox 18"/>
          <p:cNvSpPr txBox="1"/>
          <p:nvPr/>
        </p:nvSpPr>
        <p:spPr>
          <a:xfrm>
            <a:off x="5431536" y="3017520"/>
            <a:ext cx="1554480" cy="685800"/>
          </a:xfrm>
          <a:prstGeom prst="rect">
            <a:avLst/>
          </a:prstGeom>
          <a:noFill/>
        </p:spPr>
        <p:txBody>
          <a:bodyPr wrap="square" anchor="t">
            <a:spAutoFit/>
          </a:bodyPr>
          <a:lstStyle/>
          <a:p>
            <a:pPr algn="ctr">
              <a:defRPr sz="1300" b="0">
                <a:solidFill>
                  <a:srgbClr val="596B81"/>
                </a:solidFill>
                <a:latin typeface="Aptos"/>
              </a:defRPr>
            </a:pPr>
            <a:r>
              <a:t>~420 ký tự</a:t>
            </a:r>
            <a:br/>
            <a:r>
              <a:t>60 ký tự overlap</a:t>
            </a:r>
          </a:p>
        </p:txBody>
      </p:sp>
      <p:sp>
        <p:nvSpPr>
          <p:cNvPr id="20" name="Rounded Rectangle 19"/>
          <p:cNvSpPr/>
          <p:nvPr/>
        </p:nvSpPr>
        <p:spPr>
          <a:xfrm>
            <a:off x="7571232" y="1828800"/>
            <a:ext cx="1874519" cy="24688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93024" y="1536192"/>
            <a:ext cx="640080" cy="64008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1664208"/>
            <a:ext cx="640080" cy="274320"/>
          </a:xfrm>
          <a:prstGeom prst="rect">
            <a:avLst/>
          </a:prstGeom>
          <a:noFill/>
        </p:spPr>
        <p:txBody>
          <a:bodyPr wrap="square" anchor="t">
            <a:spAutoFit/>
          </a:bodyPr>
          <a:lstStyle/>
          <a:p>
            <a:pPr algn="ctr">
              <a:defRPr sz="1700" b="1">
                <a:solidFill>
                  <a:srgbClr val="FFFFFF"/>
                </a:solidFill>
                <a:latin typeface="Aptos"/>
              </a:defRPr>
            </a:pPr>
            <a:r>
              <a:t>4</a:t>
            </a:r>
          </a:p>
        </p:txBody>
      </p:sp>
      <p:sp>
        <p:nvSpPr>
          <p:cNvPr id="23" name="TextBox 22"/>
          <p:cNvSpPr txBox="1"/>
          <p:nvPr/>
        </p:nvSpPr>
        <p:spPr>
          <a:xfrm>
            <a:off x="7735824" y="2423160"/>
            <a:ext cx="1554480" cy="320040"/>
          </a:xfrm>
          <a:prstGeom prst="rect">
            <a:avLst/>
          </a:prstGeom>
          <a:noFill/>
        </p:spPr>
        <p:txBody>
          <a:bodyPr wrap="square" anchor="t">
            <a:spAutoFit/>
          </a:bodyPr>
          <a:lstStyle/>
          <a:p>
            <a:pPr algn="ctr">
              <a:defRPr sz="1700" b="1">
                <a:solidFill>
                  <a:srgbClr val="082349"/>
                </a:solidFill>
                <a:latin typeface="Aptos"/>
              </a:defRPr>
            </a:pPr>
            <a:r>
              <a:t>Enrich</a:t>
            </a:r>
          </a:p>
        </p:txBody>
      </p:sp>
      <p:sp>
        <p:nvSpPr>
          <p:cNvPr id="24" name="TextBox 23"/>
          <p:cNvSpPr txBox="1"/>
          <p:nvPr/>
        </p:nvSpPr>
        <p:spPr>
          <a:xfrm>
            <a:off x="7735824" y="3017520"/>
            <a:ext cx="1554480" cy="685800"/>
          </a:xfrm>
          <a:prstGeom prst="rect">
            <a:avLst/>
          </a:prstGeom>
          <a:noFill/>
        </p:spPr>
        <p:txBody>
          <a:bodyPr wrap="square" anchor="t">
            <a:spAutoFit/>
          </a:bodyPr>
          <a:lstStyle/>
          <a:p>
            <a:pPr algn="ctr">
              <a:defRPr sz="1300" b="0">
                <a:solidFill>
                  <a:srgbClr val="596B81"/>
                </a:solidFill>
                <a:latin typeface="Aptos"/>
              </a:defRPr>
            </a:pPr>
            <a:r>
              <a:t>version • scope</a:t>
            </a:r>
            <a:br/>
            <a:r>
              <a:t>status • role</a:t>
            </a:r>
          </a:p>
        </p:txBody>
      </p:sp>
      <p:sp>
        <p:nvSpPr>
          <p:cNvPr id="25" name="Rounded Rectangle 24"/>
          <p:cNvSpPr/>
          <p:nvPr/>
        </p:nvSpPr>
        <p:spPr>
          <a:xfrm>
            <a:off x="9875520" y="1828800"/>
            <a:ext cx="1874519" cy="24688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497312" y="1536192"/>
            <a:ext cx="640080" cy="640080"/>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7312" y="1664208"/>
            <a:ext cx="640080" cy="274320"/>
          </a:xfrm>
          <a:prstGeom prst="rect">
            <a:avLst/>
          </a:prstGeom>
          <a:noFill/>
        </p:spPr>
        <p:txBody>
          <a:bodyPr wrap="square" anchor="t">
            <a:spAutoFit/>
          </a:bodyPr>
          <a:lstStyle/>
          <a:p>
            <a:pPr algn="ctr">
              <a:defRPr sz="1700" b="1">
                <a:solidFill>
                  <a:srgbClr val="FFFFFF"/>
                </a:solidFill>
                <a:latin typeface="Aptos"/>
              </a:defRPr>
            </a:pPr>
            <a:r>
              <a:t>5</a:t>
            </a:r>
          </a:p>
        </p:txBody>
      </p:sp>
      <p:sp>
        <p:nvSpPr>
          <p:cNvPr id="28" name="TextBox 27"/>
          <p:cNvSpPr txBox="1"/>
          <p:nvPr/>
        </p:nvSpPr>
        <p:spPr>
          <a:xfrm>
            <a:off x="10040112" y="2423160"/>
            <a:ext cx="1554480" cy="320040"/>
          </a:xfrm>
          <a:prstGeom prst="rect">
            <a:avLst/>
          </a:prstGeom>
          <a:noFill/>
        </p:spPr>
        <p:txBody>
          <a:bodyPr wrap="square" anchor="t">
            <a:spAutoFit/>
          </a:bodyPr>
          <a:lstStyle/>
          <a:p>
            <a:pPr algn="ctr">
              <a:defRPr sz="1700" b="1">
                <a:solidFill>
                  <a:srgbClr val="082349"/>
                </a:solidFill>
                <a:latin typeface="Aptos"/>
              </a:defRPr>
            </a:pPr>
            <a:r>
              <a:t>Dual index</a:t>
            </a:r>
          </a:p>
        </p:txBody>
      </p:sp>
      <p:sp>
        <p:nvSpPr>
          <p:cNvPr id="29" name="TextBox 28"/>
          <p:cNvSpPr txBox="1"/>
          <p:nvPr/>
        </p:nvSpPr>
        <p:spPr>
          <a:xfrm>
            <a:off x="10040112" y="3017520"/>
            <a:ext cx="1554480" cy="685800"/>
          </a:xfrm>
          <a:prstGeom prst="rect">
            <a:avLst/>
          </a:prstGeom>
          <a:noFill/>
        </p:spPr>
        <p:txBody>
          <a:bodyPr wrap="square" anchor="t">
            <a:spAutoFit/>
          </a:bodyPr>
          <a:lstStyle/>
          <a:p>
            <a:pPr algn="ctr">
              <a:defRPr sz="1300" b="0">
                <a:solidFill>
                  <a:srgbClr val="596B81"/>
                </a:solidFill>
                <a:latin typeface="Aptos"/>
              </a:defRPr>
            </a:pPr>
            <a:r>
              <a:t>Embedding + BM25</a:t>
            </a:r>
            <a:br/>
            <a:r>
              <a:t>Chroma + JSON</a:t>
            </a:r>
          </a:p>
        </p:txBody>
      </p:sp>
      <p:sp>
        <p:nvSpPr>
          <p:cNvPr id="30" name="TextBox 29"/>
          <p:cNvSpPr txBox="1"/>
          <p:nvPr/>
        </p:nvSpPr>
        <p:spPr>
          <a:xfrm>
            <a:off x="777240" y="4800600"/>
            <a:ext cx="2286000" cy="320040"/>
          </a:xfrm>
          <a:prstGeom prst="rect">
            <a:avLst/>
          </a:prstGeom>
          <a:noFill/>
        </p:spPr>
        <p:txBody>
          <a:bodyPr wrap="square" anchor="t">
            <a:spAutoFit/>
          </a:bodyPr>
          <a:lstStyle/>
          <a:p>
            <a:pPr algn="l">
              <a:defRPr sz="1700" b="1">
                <a:solidFill>
                  <a:srgbClr val="085C94"/>
                </a:solidFill>
                <a:latin typeface="Aptos"/>
              </a:defRPr>
            </a:pPr>
            <a:r>
              <a:t>Vì sao chunk nhỏ?</a:t>
            </a:r>
          </a:p>
        </p:txBody>
      </p:sp>
      <p:sp>
        <p:nvSpPr>
          <p:cNvPr id="31" name="TextBox 30"/>
          <p:cNvSpPr txBox="1"/>
          <p:nvPr/>
        </p:nvSpPr>
        <p:spPr>
          <a:xfrm>
            <a:off x="2743200" y="4754880"/>
            <a:ext cx="8412480" cy="685800"/>
          </a:xfrm>
          <a:prstGeom prst="rect">
            <a:avLst/>
          </a:prstGeom>
          <a:noFill/>
        </p:spPr>
        <p:txBody>
          <a:bodyPr wrap="square" anchor="t">
            <a:spAutoFit/>
          </a:bodyPr>
          <a:lstStyle/>
          <a:p>
            <a:pPr algn="l">
              <a:defRPr sz="1500" b="0">
                <a:solidFill>
                  <a:srgbClr val="141F30"/>
                </a:solidFill>
                <a:latin typeface="Aptos"/>
              </a:defRPr>
            </a:pPr>
            <a:r>
              <a:t>Giảm nhiễu context, bám đúng điều khoản và tăng khả năng trả lời câu hỏi cụ thể — nhưng vẫn giữ heading để chunk không mất nghĩa.</a:t>
            </a:r>
          </a:p>
        </p:txBody>
      </p:sp>
      <p:sp>
        <p:nvSpPr>
          <p:cNvPr id="32" name="TextBox 31"/>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3" name="TextBox 32"/>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RUNTIME FLOW</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Luồng xử lý một câu hỏi</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965960"/>
            <a:ext cx="1371600" cy="105156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2221992"/>
            <a:ext cx="1225296" cy="502920"/>
          </a:xfrm>
          <a:prstGeom prst="rect">
            <a:avLst/>
          </a:prstGeom>
          <a:noFill/>
        </p:spPr>
        <p:txBody>
          <a:bodyPr wrap="square" anchor="ctr">
            <a:spAutoFit/>
          </a:bodyPr>
          <a:lstStyle/>
          <a:p>
            <a:pPr algn="ctr">
              <a:defRPr sz="1300" b="1">
                <a:solidFill>
                  <a:srgbClr val="FFFFFF"/>
                </a:solidFill>
                <a:latin typeface="Aptos"/>
              </a:defRPr>
            </a:pPr>
            <a:r>
              <a:t>Auth + RBAC</a:t>
            </a:r>
          </a:p>
        </p:txBody>
      </p:sp>
      <p:sp>
        <p:nvSpPr>
          <p:cNvPr id="7" name="TextBox 6"/>
          <p:cNvSpPr txBox="1"/>
          <p:nvPr/>
        </p:nvSpPr>
        <p:spPr>
          <a:xfrm>
            <a:off x="1874519"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8" name="Rounded Rectangle 7"/>
          <p:cNvSpPr/>
          <p:nvPr/>
        </p:nvSpPr>
        <p:spPr>
          <a:xfrm>
            <a:off x="2167128" y="1965960"/>
            <a:ext cx="1371600" cy="105156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0280" y="2221992"/>
            <a:ext cx="1225296" cy="502920"/>
          </a:xfrm>
          <a:prstGeom prst="rect">
            <a:avLst/>
          </a:prstGeom>
          <a:noFill/>
        </p:spPr>
        <p:txBody>
          <a:bodyPr wrap="square" anchor="ctr">
            <a:spAutoFit/>
          </a:bodyPr>
          <a:lstStyle/>
          <a:p>
            <a:pPr algn="ctr">
              <a:defRPr sz="1300" b="1">
                <a:solidFill>
                  <a:srgbClr val="FFFFFF"/>
                </a:solidFill>
                <a:latin typeface="Aptos"/>
              </a:defRPr>
            </a:pPr>
            <a:r>
              <a:t>Screen intent</a:t>
            </a:r>
          </a:p>
        </p:txBody>
      </p:sp>
      <p:sp>
        <p:nvSpPr>
          <p:cNvPr id="10" name="TextBox 9"/>
          <p:cNvSpPr txBox="1"/>
          <p:nvPr/>
        </p:nvSpPr>
        <p:spPr>
          <a:xfrm>
            <a:off x="3538728"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11" name="Rounded Rectangle 10"/>
          <p:cNvSpPr/>
          <p:nvPr/>
        </p:nvSpPr>
        <p:spPr>
          <a:xfrm>
            <a:off x="3831336" y="1965960"/>
            <a:ext cx="1371600" cy="1051560"/>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04488" y="2221992"/>
            <a:ext cx="1225296" cy="502920"/>
          </a:xfrm>
          <a:prstGeom prst="rect">
            <a:avLst/>
          </a:prstGeom>
          <a:noFill/>
        </p:spPr>
        <p:txBody>
          <a:bodyPr wrap="square" anchor="ctr">
            <a:spAutoFit/>
          </a:bodyPr>
          <a:lstStyle/>
          <a:p>
            <a:pPr algn="ctr">
              <a:defRPr sz="1300" b="1">
                <a:solidFill>
                  <a:srgbClr val="FFFFFF"/>
                </a:solidFill>
                <a:latin typeface="Aptos"/>
              </a:defRPr>
            </a:pPr>
            <a:r>
              <a:t>Rewrite query</a:t>
            </a:r>
          </a:p>
        </p:txBody>
      </p:sp>
      <p:sp>
        <p:nvSpPr>
          <p:cNvPr id="13" name="TextBox 12"/>
          <p:cNvSpPr txBox="1"/>
          <p:nvPr/>
        </p:nvSpPr>
        <p:spPr>
          <a:xfrm>
            <a:off x="5202936"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14" name="Rounded Rectangle 13"/>
          <p:cNvSpPr/>
          <p:nvPr/>
        </p:nvSpPr>
        <p:spPr>
          <a:xfrm>
            <a:off x="5495544" y="1965960"/>
            <a:ext cx="1371600" cy="1051560"/>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68696" y="2221992"/>
            <a:ext cx="1225296" cy="502920"/>
          </a:xfrm>
          <a:prstGeom prst="rect">
            <a:avLst/>
          </a:prstGeom>
          <a:noFill/>
        </p:spPr>
        <p:txBody>
          <a:bodyPr wrap="square" anchor="ctr">
            <a:spAutoFit/>
          </a:bodyPr>
          <a:lstStyle/>
          <a:p>
            <a:pPr algn="ctr">
              <a:defRPr sz="1300" b="1">
                <a:solidFill>
                  <a:srgbClr val="FFFFFF"/>
                </a:solidFill>
                <a:latin typeface="Aptos"/>
              </a:defRPr>
            </a:pPr>
            <a:r>
              <a:t>Hybrid retrieve</a:t>
            </a:r>
          </a:p>
        </p:txBody>
      </p:sp>
      <p:sp>
        <p:nvSpPr>
          <p:cNvPr id="16" name="TextBox 15"/>
          <p:cNvSpPr txBox="1"/>
          <p:nvPr/>
        </p:nvSpPr>
        <p:spPr>
          <a:xfrm>
            <a:off x="6867144"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17" name="Rounded Rectangle 16"/>
          <p:cNvSpPr/>
          <p:nvPr/>
        </p:nvSpPr>
        <p:spPr>
          <a:xfrm>
            <a:off x="7159752" y="1965960"/>
            <a:ext cx="1371600" cy="1051560"/>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32904" y="2221992"/>
            <a:ext cx="1225296" cy="502920"/>
          </a:xfrm>
          <a:prstGeom prst="rect">
            <a:avLst/>
          </a:prstGeom>
          <a:noFill/>
        </p:spPr>
        <p:txBody>
          <a:bodyPr wrap="square" anchor="ctr">
            <a:spAutoFit/>
          </a:bodyPr>
          <a:lstStyle/>
          <a:p>
            <a:pPr algn="ctr">
              <a:defRPr sz="1300" b="1">
                <a:solidFill>
                  <a:srgbClr val="FFFFFF"/>
                </a:solidFill>
                <a:latin typeface="Aptos"/>
              </a:defRPr>
            </a:pPr>
            <a:r>
              <a:t>Rerank + filter</a:t>
            </a:r>
          </a:p>
        </p:txBody>
      </p:sp>
      <p:sp>
        <p:nvSpPr>
          <p:cNvPr id="19" name="TextBox 18"/>
          <p:cNvSpPr txBox="1"/>
          <p:nvPr/>
        </p:nvSpPr>
        <p:spPr>
          <a:xfrm>
            <a:off x="8531352"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20" name="Rounded Rectangle 19"/>
          <p:cNvSpPr/>
          <p:nvPr/>
        </p:nvSpPr>
        <p:spPr>
          <a:xfrm>
            <a:off x="8823960" y="1965960"/>
            <a:ext cx="1371600" cy="1051560"/>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7112" y="2221992"/>
            <a:ext cx="1225296" cy="502920"/>
          </a:xfrm>
          <a:prstGeom prst="rect">
            <a:avLst/>
          </a:prstGeom>
          <a:noFill/>
        </p:spPr>
        <p:txBody>
          <a:bodyPr wrap="square" anchor="ctr">
            <a:spAutoFit/>
          </a:bodyPr>
          <a:lstStyle/>
          <a:p>
            <a:pPr algn="ctr">
              <a:defRPr sz="1300" b="1">
                <a:solidFill>
                  <a:srgbClr val="FFFFFF"/>
                </a:solidFill>
                <a:latin typeface="Aptos"/>
              </a:defRPr>
            </a:pPr>
            <a:r>
              <a:t>Generate</a:t>
            </a:r>
          </a:p>
        </p:txBody>
      </p:sp>
      <p:sp>
        <p:nvSpPr>
          <p:cNvPr id="22" name="TextBox 21"/>
          <p:cNvSpPr txBox="1"/>
          <p:nvPr/>
        </p:nvSpPr>
        <p:spPr>
          <a:xfrm>
            <a:off x="10195560" y="2267712"/>
            <a:ext cx="292608" cy="320040"/>
          </a:xfrm>
          <a:prstGeom prst="rect">
            <a:avLst/>
          </a:prstGeom>
          <a:noFill/>
        </p:spPr>
        <p:txBody>
          <a:bodyPr wrap="square" anchor="t">
            <a:spAutoFit/>
          </a:bodyPr>
          <a:lstStyle/>
          <a:p>
            <a:pPr algn="ctr">
              <a:defRPr sz="1700" b="1">
                <a:solidFill>
                  <a:srgbClr val="596B81"/>
                </a:solidFill>
                <a:latin typeface="Aptos"/>
              </a:defRPr>
            </a:pPr>
            <a:r>
              <a:t>→</a:t>
            </a:r>
          </a:p>
        </p:txBody>
      </p:sp>
      <p:sp>
        <p:nvSpPr>
          <p:cNvPr id="23" name="Rounded Rectangle 22"/>
          <p:cNvSpPr/>
          <p:nvPr/>
        </p:nvSpPr>
        <p:spPr>
          <a:xfrm>
            <a:off x="10488168" y="1965960"/>
            <a:ext cx="1371600" cy="1051560"/>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2221992"/>
            <a:ext cx="1225296" cy="502920"/>
          </a:xfrm>
          <a:prstGeom prst="rect">
            <a:avLst/>
          </a:prstGeom>
          <a:noFill/>
        </p:spPr>
        <p:txBody>
          <a:bodyPr wrap="square" anchor="ctr">
            <a:spAutoFit/>
          </a:bodyPr>
          <a:lstStyle/>
          <a:p>
            <a:pPr algn="ctr">
              <a:defRPr sz="1300" b="1">
                <a:solidFill>
                  <a:srgbClr val="FFFFFF"/>
                </a:solidFill>
                <a:latin typeface="Aptos"/>
              </a:defRPr>
            </a:pPr>
            <a:r>
              <a:t>Verify + handoff</a:t>
            </a:r>
          </a:p>
        </p:txBody>
      </p:sp>
      <p:sp>
        <p:nvSpPr>
          <p:cNvPr id="25" name="Rounded Rectangle 24"/>
          <p:cNvSpPr/>
          <p:nvPr/>
        </p:nvSpPr>
        <p:spPr>
          <a:xfrm>
            <a:off x="777240" y="3749039"/>
            <a:ext cx="3154680" cy="1143000"/>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3977639"/>
            <a:ext cx="731520" cy="274320"/>
          </a:xfrm>
          <a:prstGeom prst="rect">
            <a:avLst/>
          </a:prstGeom>
          <a:noFill/>
        </p:spPr>
        <p:txBody>
          <a:bodyPr wrap="square" anchor="t">
            <a:spAutoFit/>
          </a:bodyPr>
          <a:lstStyle/>
          <a:p>
            <a:pPr algn="l">
              <a:defRPr sz="1400" b="1">
                <a:solidFill>
                  <a:srgbClr val="128C5B"/>
                </a:solidFill>
                <a:latin typeface="Aptos"/>
              </a:defRPr>
            </a:pPr>
            <a:r>
              <a:t>ALLOW</a:t>
            </a:r>
          </a:p>
        </p:txBody>
      </p:sp>
      <p:sp>
        <p:nvSpPr>
          <p:cNvPr id="27" name="TextBox 26"/>
          <p:cNvSpPr txBox="1"/>
          <p:nvPr/>
        </p:nvSpPr>
        <p:spPr>
          <a:xfrm>
            <a:off x="987552" y="4343400"/>
            <a:ext cx="2468880" cy="256032"/>
          </a:xfrm>
          <a:prstGeom prst="rect">
            <a:avLst/>
          </a:prstGeom>
          <a:noFill/>
        </p:spPr>
        <p:txBody>
          <a:bodyPr wrap="square" anchor="t">
            <a:spAutoFit/>
          </a:bodyPr>
          <a:lstStyle/>
          <a:p>
            <a:pPr algn="l">
              <a:defRPr sz="1200" b="0">
                <a:solidFill>
                  <a:srgbClr val="596B81"/>
                </a:solidFill>
                <a:latin typeface="Aptos"/>
              </a:defRPr>
            </a:pPr>
            <a:r>
              <a:t>Câu HR đủ rõ → chạy RAG</a:t>
            </a:r>
          </a:p>
        </p:txBody>
      </p:sp>
      <p:sp>
        <p:nvSpPr>
          <p:cNvPr id="28" name="Rounded Rectangle 27"/>
          <p:cNvSpPr/>
          <p:nvPr/>
        </p:nvSpPr>
        <p:spPr>
          <a:xfrm>
            <a:off x="4480560" y="3749039"/>
            <a:ext cx="3154680" cy="1143000"/>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0872" y="3977639"/>
            <a:ext cx="914400" cy="274320"/>
          </a:xfrm>
          <a:prstGeom prst="rect">
            <a:avLst/>
          </a:prstGeom>
          <a:noFill/>
        </p:spPr>
        <p:txBody>
          <a:bodyPr wrap="square" anchor="t">
            <a:spAutoFit/>
          </a:bodyPr>
          <a:lstStyle/>
          <a:p>
            <a:pPr algn="l">
              <a:defRPr sz="1400" b="1">
                <a:solidFill>
                  <a:srgbClr val="E5A923"/>
                </a:solidFill>
                <a:latin typeface="Aptos"/>
              </a:defRPr>
            </a:pPr>
            <a:r>
              <a:t>CLARIFY</a:t>
            </a:r>
          </a:p>
        </p:txBody>
      </p:sp>
      <p:sp>
        <p:nvSpPr>
          <p:cNvPr id="30" name="TextBox 29"/>
          <p:cNvSpPr txBox="1"/>
          <p:nvPr/>
        </p:nvSpPr>
        <p:spPr>
          <a:xfrm>
            <a:off x="4690872" y="4343400"/>
            <a:ext cx="2468880" cy="256032"/>
          </a:xfrm>
          <a:prstGeom prst="rect">
            <a:avLst/>
          </a:prstGeom>
          <a:noFill/>
        </p:spPr>
        <p:txBody>
          <a:bodyPr wrap="square" anchor="t">
            <a:spAutoFit/>
          </a:bodyPr>
          <a:lstStyle/>
          <a:p>
            <a:pPr algn="l">
              <a:defRPr sz="1200" b="0">
                <a:solidFill>
                  <a:srgbClr val="596B81"/>
                </a:solidFill>
                <a:latin typeface="Aptos"/>
              </a:defRPr>
            </a:pPr>
            <a:r>
              <a:t>Thiếu dữ kiện → hỏi ngược</a:t>
            </a:r>
          </a:p>
        </p:txBody>
      </p:sp>
      <p:sp>
        <p:nvSpPr>
          <p:cNvPr id="31" name="Rounded Rectangle 30"/>
          <p:cNvSpPr/>
          <p:nvPr/>
        </p:nvSpPr>
        <p:spPr>
          <a:xfrm>
            <a:off x="8183879" y="3749039"/>
            <a:ext cx="3154680" cy="1143000"/>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94192" y="3977639"/>
            <a:ext cx="731520" cy="274320"/>
          </a:xfrm>
          <a:prstGeom prst="rect">
            <a:avLst/>
          </a:prstGeom>
          <a:noFill/>
        </p:spPr>
        <p:txBody>
          <a:bodyPr wrap="square" anchor="t">
            <a:spAutoFit/>
          </a:bodyPr>
          <a:lstStyle/>
          <a:p>
            <a:pPr algn="l">
              <a:defRPr sz="1400" b="1">
                <a:solidFill>
                  <a:srgbClr val="C1373E"/>
                </a:solidFill>
                <a:latin typeface="Aptos"/>
              </a:defRPr>
            </a:pPr>
            <a:r>
              <a:t>BLOCK</a:t>
            </a:r>
          </a:p>
        </p:txBody>
      </p:sp>
      <p:sp>
        <p:nvSpPr>
          <p:cNvPr id="33" name="TextBox 32"/>
          <p:cNvSpPr txBox="1"/>
          <p:nvPr/>
        </p:nvSpPr>
        <p:spPr>
          <a:xfrm>
            <a:off x="8394192" y="4343400"/>
            <a:ext cx="2468880" cy="256032"/>
          </a:xfrm>
          <a:prstGeom prst="rect">
            <a:avLst/>
          </a:prstGeom>
          <a:noFill/>
        </p:spPr>
        <p:txBody>
          <a:bodyPr wrap="square" anchor="t">
            <a:spAutoFit/>
          </a:bodyPr>
          <a:lstStyle/>
          <a:p>
            <a:pPr algn="l">
              <a:defRPr sz="1200" b="0">
                <a:solidFill>
                  <a:srgbClr val="596B81"/>
                </a:solidFill>
                <a:latin typeface="Aptos"/>
              </a:defRPr>
            </a:pPr>
            <a:r>
              <a:t>Ngoài phạm vi / dữ liệu cấm</a:t>
            </a:r>
          </a:p>
        </p:txBody>
      </p:sp>
      <p:sp>
        <p:nvSpPr>
          <p:cNvPr id="34" name="TextBox 33"/>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5" name="TextBox 34"/>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CONVERSATION LOGIC</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Không chỉ trả lời — chatbot biết tiếp tục hội thoại</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212080" cy="429768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01952"/>
            <a:ext cx="4297680" cy="365760"/>
          </a:xfrm>
          <a:prstGeom prst="rect">
            <a:avLst/>
          </a:prstGeom>
          <a:noFill/>
        </p:spPr>
        <p:txBody>
          <a:bodyPr wrap="square" anchor="t">
            <a:spAutoFit/>
          </a:bodyPr>
          <a:lstStyle/>
          <a:p>
            <a:pPr algn="l">
              <a:defRPr sz="2000" b="1">
                <a:solidFill>
                  <a:srgbClr val="082349"/>
                </a:solidFill>
                <a:latin typeface="Aptos"/>
              </a:defRPr>
            </a:pPr>
            <a:r>
              <a:t>Hỏi ngược đúng lúc</a:t>
            </a:r>
          </a:p>
        </p:txBody>
      </p:sp>
      <p:sp>
        <p:nvSpPr>
          <p:cNvPr id="7" name="TextBox 6"/>
          <p:cNvSpPr txBox="1"/>
          <p:nvPr/>
        </p:nvSpPr>
        <p:spPr>
          <a:xfrm>
            <a:off x="1051560" y="2514600"/>
            <a:ext cx="4297680" cy="2286000"/>
          </a:xfrm>
          <a:prstGeom prst="rect">
            <a:avLst/>
          </a:prstGeom>
          <a:noFill/>
        </p:spPr>
        <p:txBody>
          <a:bodyPr wrap="square">
            <a:spAutoFit/>
          </a:bodyPr>
          <a:lstStyle/>
          <a:p>
            <a:pPr>
              <a:spcAft>
                <a:spcPts val="1100"/>
              </a:spcAft>
              <a:defRPr sz="1600">
                <a:solidFill>
                  <a:srgbClr val="141F30"/>
                </a:solidFill>
                <a:latin typeface="Aptos"/>
              </a:defRPr>
            </a:pPr>
            <a:r>
              <a:t>•  Thiếu ngày nghỉ → hỏi khoảng thời gian.</a:t>
            </a:r>
          </a:p>
          <a:p>
            <a:pPr>
              <a:spcAft>
                <a:spcPts val="1100"/>
              </a:spcAft>
              <a:defRPr sz="1600">
                <a:solidFill>
                  <a:srgbClr val="141F30"/>
                </a:solidFill>
                <a:latin typeface="Aptos"/>
              </a:defRPr>
            </a:pPr>
            <a:r>
              <a:t>•  Có ngày → hỏi lý do và bàn giao.</a:t>
            </a:r>
          </a:p>
          <a:p>
            <a:pPr>
              <a:spcAft>
                <a:spcPts val="1100"/>
              </a:spcAft>
              <a:defRPr sz="1600">
                <a:solidFill>
                  <a:srgbClr val="141F30"/>
                </a:solidFill>
                <a:latin typeface="Aptos"/>
              </a:defRPr>
            </a:pPr>
            <a:r>
              <a:t>•  Đủ dữ liệu → dựng sẵn form để rà soát.</a:t>
            </a:r>
          </a:p>
          <a:p>
            <a:pPr>
              <a:spcAft>
                <a:spcPts val="1100"/>
              </a:spcAft>
              <a:defRPr sz="1600">
                <a:solidFill>
                  <a:srgbClr val="141F30"/>
                </a:solidFill>
                <a:latin typeface="Aptos"/>
              </a:defRPr>
            </a:pPr>
            <a:r>
              <a:t>•  Câu nhạy cảm → hướng chuyển tiếp HR.</a:t>
            </a:r>
          </a:p>
        </p:txBody>
      </p:sp>
      <p:sp>
        <p:nvSpPr>
          <p:cNvPr id="8" name="Rounded Rectangle 7"/>
          <p:cNvSpPr/>
          <p:nvPr/>
        </p:nvSpPr>
        <p:spPr>
          <a:xfrm>
            <a:off x="6263640" y="1600200"/>
            <a:ext cx="5212080" cy="429768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01952"/>
            <a:ext cx="4297680" cy="365760"/>
          </a:xfrm>
          <a:prstGeom prst="rect">
            <a:avLst/>
          </a:prstGeom>
          <a:noFill/>
        </p:spPr>
        <p:txBody>
          <a:bodyPr wrap="square" anchor="t">
            <a:spAutoFit/>
          </a:bodyPr>
          <a:lstStyle/>
          <a:p>
            <a:pPr algn="l">
              <a:defRPr sz="2000" b="1">
                <a:solidFill>
                  <a:srgbClr val="E5A923"/>
                </a:solidFill>
                <a:latin typeface="Aptos"/>
              </a:defRPr>
            </a:pPr>
            <a:r>
              <a:t>Một session, hai giao diện</a:t>
            </a:r>
          </a:p>
        </p:txBody>
      </p:sp>
      <p:sp>
        <p:nvSpPr>
          <p:cNvPr id="10" name="TextBox 9"/>
          <p:cNvSpPr txBox="1"/>
          <p:nvPr/>
        </p:nvSpPr>
        <p:spPr>
          <a:xfrm>
            <a:off x="6583680" y="2514600"/>
            <a:ext cx="4297680" cy="2286000"/>
          </a:xfrm>
          <a:prstGeom prst="rect">
            <a:avLst/>
          </a:prstGeom>
          <a:noFill/>
        </p:spPr>
        <p:txBody>
          <a:bodyPr wrap="square">
            <a:spAutoFit/>
          </a:bodyPr>
          <a:lstStyle/>
          <a:p>
            <a:pPr>
              <a:spcAft>
                <a:spcPts val="1100"/>
              </a:spcAft>
              <a:defRPr sz="1600">
                <a:solidFill>
                  <a:srgbClr val="FFFFFF"/>
                </a:solidFill>
                <a:latin typeface="Aptos"/>
              </a:defRPr>
            </a:pPr>
            <a:r>
              <a:t>•  Chat widget và màn đầy đủ dùng cùng logic.</a:t>
            </a:r>
          </a:p>
          <a:p>
            <a:pPr>
              <a:spcAft>
                <a:spcPts val="1100"/>
              </a:spcAft>
              <a:defRPr sz="1600">
                <a:solidFill>
                  <a:srgbClr val="FFFFFF"/>
                </a:solidFill>
                <a:latin typeface="Aptos"/>
              </a:defRPr>
            </a:pPr>
            <a:r>
              <a:t>•  Đồng bộ lịch sử theo tài khoản.</a:t>
            </a:r>
          </a:p>
          <a:p>
            <a:pPr>
              <a:spcAft>
                <a:spcPts val="1100"/>
              </a:spcAft>
              <a:defRPr sz="1600">
                <a:solidFill>
                  <a:srgbClr val="FFFFFF"/>
                </a:solidFill>
                <a:latin typeface="Aptos"/>
              </a:defRPr>
            </a:pPr>
            <a:r>
              <a:t>•  Giữ trạng thái luồng tạo đơn khi chuyển màn.</a:t>
            </a:r>
          </a:p>
          <a:p>
            <a:pPr>
              <a:spcAft>
                <a:spcPts val="1100"/>
              </a:spcAft>
              <a:defRPr sz="1600">
                <a:solidFill>
                  <a:srgbClr val="FFFFFF"/>
                </a:solidFill>
                <a:latin typeface="Aptos"/>
              </a:defRPr>
            </a:pPr>
            <a:r>
              <a:t>•  Hiểu ok, cảm ơn, hiểu rồi — không reset hội thoại.</a:t>
            </a:r>
          </a:p>
        </p:txBody>
      </p:sp>
      <p:sp>
        <p:nvSpPr>
          <p:cNvPr id="11" name="TextBox 10"/>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12" name="TextBox 11"/>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TRUST BY DESIGN</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Guardrail và bảo vệ dữ liệu</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00200"/>
            <a:ext cx="128016" cy="1691640"/>
          </a:xfrm>
          <a:prstGeom prst="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856232"/>
            <a:ext cx="2743200" cy="310896"/>
          </a:xfrm>
          <a:prstGeom prst="rect">
            <a:avLst/>
          </a:prstGeom>
          <a:noFill/>
        </p:spPr>
        <p:txBody>
          <a:bodyPr wrap="square" anchor="t">
            <a:spAutoFit/>
          </a:bodyPr>
          <a:lstStyle/>
          <a:p>
            <a:pPr algn="l">
              <a:defRPr sz="1600" b="1">
                <a:solidFill>
                  <a:srgbClr val="085C94"/>
                </a:solidFill>
                <a:latin typeface="Aptos"/>
              </a:defRPr>
            </a:pPr>
            <a:r>
              <a:t>RBAC</a:t>
            </a:r>
          </a:p>
        </p:txBody>
      </p:sp>
      <p:sp>
        <p:nvSpPr>
          <p:cNvPr id="8" name="TextBox 7"/>
          <p:cNvSpPr txBox="1"/>
          <p:nvPr/>
        </p:nvSpPr>
        <p:spPr>
          <a:xfrm>
            <a:off x="987552" y="2350008"/>
            <a:ext cx="2743200" cy="566928"/>
          </a:xfrm>
          <a:prstGeom prst="rect">
            <a:avLst/>
          </a:prstGeom>
          <a:noFill/>
        </p:spPr>
        <p:txBody>
          <a:bodyPr wrap="square" anchor="t">
            <a:spAutoFit/>
          </a:bodyPr>
          <a:lstStyle/>
          <a:p>
            <a:pPr algn="l">
              <a:defRPr sz="1300" b="0">
                <a:solidFill>
                  <a:srgbClr val="596B81"/>
                </a:solidFill>
                <a:latin typeface="Aptos"/>
              </a:defRPr>
            </a:pPr>
            <a:r>
              <a:t>Lọc tài liệu theo role và department</a:t>
            </a:r>
          </a:p>
        </p:txBody>
      </p:sp>
      <p:sp>
        <p:nvSpPr>
          <p:cNvPr id="9" name="Rounded Rectangle 8"/>
          <p:cNvSpPr/>
          <p:nvPr/>
        </p:nvSpPr>
        <p:spPr>
          <a:xfrm>
            <a:off x="4434840" y="160020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600200"/>
            <a:ext cx="128016" cy="1691640"/>
          </a:xfrm>
          <a:prstGeom prst="rect">
            <a:avLst/>
          </a:prstGeom>
          <a:solidFill>
            <a:srgbClr val="C1373E"/>
          </a:solidFill>
          <a:ln>
            <a:solidFill>
              <a:srgbClr val="C137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0872" y="1856232"/>
            <a:ext cx="2743200" cy="310896"/>
          </a:xfrm>
          <a:prstGeom prst="rect">
            <a:avLst/>
          </a:prstGeom>
          <a:noFill/>
        </p:spPr>
        <p:txBody>
          <a:bodyPr wrap="square" anchor="t">
            <a:spAutoFit/>
          </a:bodyPr>
          <a:lstStyle/>
          <a:p>
            <a:pPr algn="l">
              <a:defRPr sz="1600" b="1">
                <a:solidFill>
                  <a:srgbClr val="C1373E"/>
                </a:solidFill>
                <a:latin typeface="Aptos"/>
              </a:defRPr>
            </a:pPr>
            <a:r>
              <a:t>Privacy</a:t>
            </a:r>
          </a:p>
        </p:txBody>
      </p:sp>
      <p:sp>
        <p:nvSpPr>
          <p:cNvPr id="12" name="TextBox 11"/>
          <p:cNvSpPr txBox="1"/>
          <p:nvPr/>
        </p:nvSpPr>
        <p:spPr>
          <a:xfrm>
            <a:off x="4690872" y="2350008"/>
            <a:ext cx="2743200" cy="566928"/>
          </a:xfrm>
          <a:prstGeom prst="rect">
            <a:avLst/>
          </a:prstGeom>
          <a:noFill/>
        </p:spPr>
        <p:txBody>
          <a:bodyPr wrap="square" anchor="t">
            <a:spAutoFit/>
          </a:bodyPr>
          <a:lstStyle/>
          <a:p>
            <a:pPr algn="l">
              <a:defRPr sz="1300" b="0">
                <a:solidFill>
                  <a:srgbClr val="596B81"/>
                </a:solidFill>
                <a:latin typeface="Aptos"/>
              </a:defRPr>
            </a:pPr>
            <a:r>
              <a:t>Không tiết lộ lương / hồ sơ người khác</a:t>
            </a:r>
          </a:p>
        </p:txBody>
      </p:sp>
      <p:sp>
        <p:nvSpPr>
          <p:cNvPr id="13" name="Rounded Rectangle 12"/>
          <p:cNvSpPr/>
          <p:nvPr/>
        </p:nvSpPr>
        <p:spPr>
          <a:xfrm>
            <a:off x="8138160" y="160020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600200"/>
            <a:ext cx="128016" cy="1691640"/>
          </a:xfrm>
          <a:prstGeom prst="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856232"/>
            <a:ext cx="2743200" cy="310896"/>
          </a:xfrm>
          <a:prstGeom prst="rect">
            <a:avLst/>
          </a:prstGeom>
          <a:noFill/>
        </p:spPr>
        <p:txBody>
          <a:bodyPr wrap="square" anchor="t">
            <a:spAutoFit/>
          </a:bodyPr>
          <a:lstStyle/>
          <a:p>
            <a:pPr algn="l">
              <a:defRPr sz="1600" b="1">
                <a:solidFill>
                  <a:srgbClr val="082349"/>
                </a:solidFill>
                <a:latin typeface="Aptos"/>
              </a:defRPr>
            </a:pPr>
            <a:r>
              <a:t>Prompt security</a:t>
            </a:r>
          </a:p>
        </p:txBody>
      </p:sp>
      <p:sp>
        <p:nvSpPr>
          <p:cNvPr id="16" name="TextBox 15"/>
          <p:cNvSpPr txBox="1"/>
          <p:nvPr/>
        </p:nvSpPr>
        <p:spPr>
          <a:xfrm>
            <a:off x="8394192" y="2350008"/>
            <a:ext cx="2743200" cy="566928"/>
          </a:xfrm>
          <a:prstGeom prst="rect">
            <a:avLst/>
          </a:prstGeom>
          <a:noFill/>
        </p:spPr>
        <p:txBody>
          <a:bodyPr wrap="square" anchor="t">
            <a:spAutoFit/>
          </a:bodyPr>
          <a:lstStyle/>
          <a:p>
            <a:pPr algn="l">
              <a:defRPr sz="1300" b="0">
                <a:solidFill>
                  <a:srgbClr val="596B81"/>
                </a:solidFill>
                <a:latin typeface="Aptos"/>
              </a:defRPr>
            </a:pPr>
            <a:r>
              <a:t>Chặn system prompt, API key, token</a:t>
            </a:r>
          </a:p>
        </p:txBody>
      </p:sp>
      <p:sp>
        <p:nvSpPr>
          <p:cNvPr id="17" name="Rounded Rectangle 16"/>
          <p:cNvSpPr/>
          <p:nvPr/>
        </p:nvSpPr>
        <p:spPr>
          <a:xfrm>
            <a:off x="731520" y="370332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03320"/>
            <a:ext cx="128016" cy="1691640"/>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3959352"/>
            <a:ext cx="2743200" cy="310896"/>
          </a:xfrm>
          <a:prstGeom prst="rect">
            <a:avLst/>
          </a:prstGeom>
          <a:noFill/>
        </p:spPr>
        <p:txBody>
          <a:bodyPr wrap="square" anchor="t">
            <a:spAutoFit/>
          </a:bodyPr>
          <a:lstStyle/>
          <a:p>
            <a:pPr algn="l">
              <a:defRPr sz="1600" b="1">
                <a:solidFill>
                  <a:srgbClr val="E5A923"/>
                </a:solidFill>
                <a:latin typeface="Aptos"/>
              </a:defRPr>
            </a:pPr>
            <a:r>
              <a:t>Scope control</a:t>
            </a:r>
          </a:p>
        </p:txBody>
      </p:sp>
      <p:sp>
        <p:nvSpPr>
          <p:cNvPr id="20" name="TextBox 19"/>
          <p:cNvSpPr txBox="1"/>
          <p:nvPr/>
        </p:nvSpPr>
        <p:spPr>
          <a:xfrm>
            <a:off x="987552" y="4453128"/>
            <a:ext cx="2743200" cy="566928"/>
          </a:xfrm>
          <a:prstGeom prst="rect">
            <a:avLst/>
          </a:prstGeom>
          <a:noFill/>
        </p:spPr>
        <p:txBody>
          <a:bodyPr wrap="square" anchor="t">
            <a:spAutoFit/>
          </a:bodyPr>
          <a:lstStyle/>
          <a:p>
            <a:pPr algn="l">
              <a:defRPr sz="1300" b="0">
                <a:solidFill>
                  <a:srgbClr val="596B81"/>
                </a:solidFill>
                <a:latin typeface="Aptos"/>
              </a:defRPr>
            </a:pPr>
            <a:r>
              <a:t>Chặn crypto, thời tiết, code, Wi-Fi</a:t>
            </a:r>
          </a:p>
        </p:txBody>
      </p:sp>
      <p:sp>
        <p:nvSpPr>
          <p:cNvPr id="21" name="Rounded Rectangle 20"/>
          <p:cNvSpPr/>
          <p:nvPr/>
        </p:nvSpPr>
        <p:spPr>
          <a:xfrm>
            <a:off x="4434840" y="370332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703320"/>
            <a:ext cx="128016" cy="1691640"/>
          </a:xfrm>
          <a:prstGeom prst="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0872" y="3959352"/>
            <a:ext cx="2743200" cy="310896"/>
          </a:xfrm>
          <a:prstGeom prst="rect">
            <a:avLst/>
          </a:prstGeom>
          <a:noFill/>
        </p:spPr>
        <p:txBody>
          <a:bodyPr wrap="square" anchor="t">
            <a:spAutoFit/>
          </a:bodyPr>
          <a:lstStyle/>
          <a:p>
            <a:pPr algn="l">
              <a:defRPr sz="1600" b="1">
                <a:solidFill>
                  <a:srgbClr val="128C5B"/>
                </a:solidFill>
                <a:latin typeface="Aptos"/>
              </a:defRPr>
            </a:pPr>
            <a:r>
              <a:t>Human handoff</a:t>
            </a:r>
          </a:p>
        </p:txBody>
      </p:sp>
      <p:sp>
        <p:nvSpPr>
          <p:cNvPr id="24" name="TextBox 23"/>
          <p:cNvSpPr txBox="1"/>
          <p:nvPr/>
        </p:nvSpPr>
        <p:spPr>
          <a:xfrm>
            <a:off x="4690872" y="4453128"/>
            <a:ext cx="2743200" cy="566928"/>
          </a:xfrm>
          <a:prstGeom prst="rect">
            <a:avLst/>
          </a:prstGeom>
          <a:noFill/>
        </p:spPr>
        <p:txBody>
          <a:bodyPr wrap="square" anchor="t">
            <a:spAutoFit/>
          </a:bodyPr>
          <a:lstStyle/>
          <a:p>
            <a:pPr algn="l">
              <a:defRPr sz="1300" b="0">
                <a:solidFill>
                  <a:srgbClr val="596B81"/>
                </a:solidFill>
                <a:latin typeface="Aptos"/>
              </a:defRPr>
            </a:pPr>
            <a:r>
              <a:t>Tranh chấp, kỷ luật, khiếu nại → HR</a:t>
            </a:r>
          </a:p>
        </p:txBody>
      </p:sp>
      <p:sp>
        <p:nvSpPr>
          <p:cNvPr id="25" name="Rounded Rectangle 24"/>
          <p:cNvSpPr/>
          <p:nvPr/>
        </p:nvSpPr>
        <p:spPr>
          <a:xfrm>
            <a:off x="8138160" y="3703320"/>
            <a:ext cx="3337560" cy="1691640"/>
          </a:xfrm>
          <a:prstGeom prst="roundRect">
            <a:avLst/>
          </a:prstGeom>
          <a:solidFill>
            <a:srgbClr val="FFFFFF"/>
          </a:solidFill>
          <a:ln>
            <a:solidFill>
              <a:srgbClr val="D6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03320"/>
            <a:ext cx="128016" cy="1691640"/>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3959352"/>
            <a:ext cx="2743200" cy="310896"/>
          </a:xfrm>
          <a:prstGeom prst="rect">
            <a:avLst/>
          </a:prstGeom>
          <a:noFill/>
        </p:spPr>
        <p:txBody>
          <a:bodyPr wrap="square" anchor="t">
            <a:spAutoFit/>
          </a:bodyPr>
          <a:lstStyle/>
          <a:p>
            <a:pPr algn="l">
              <a:defRPr sz="1600" b="1">
                <a:solidFill>
                  <a:srgbClr val="0EA5E9"/>
                </a:solidFill>
                <a:latin typeface="Aptos"/>
              </a:defRPr>
            </a:pPr>
            <a:r>
              <a:t>No evidence</a:t>
            </a:r>
          </a:p>
        </p:txBody>
      </p:sp>
      <p:sp>
        <p:nvSpPr>
          <p:cNvPr id="28" name="TextBox 27"/>
          <p:cNvSpPr txBox="1"/>
          <p:nvPr/>
        </p:nvSpPr>
        <p:spPr>
          <a:xfrm>
            <a:off x="8394192" y="4453128"/>
            <a:ext cx="2743200" cy="566928"/>
          </a:xfrm>
          <a:prstGeom prst="rect">
            <a:avLst/>
          </a:prstGeom>
          <a:noFill/>
        </p:spPr>
        <p:txBody>
          <a:bodyPr wrap="square" anchor="t">
            <a:spAutoFit/>
          </a:bodyPr>
          <a:lstStyle/>
          <a:p>
            <a:pPr algn="l">
              <a:defRPr sz="1300" b="0">
                <a:solidFill>
                  <a:srgbClr val="596B81"/>
                </a:solidFill>
                <a:latin typeface="Aptos"/>
              </a:defRPr>
            </a:pPr>
            <a:r>
              <a:t>Thiếu căn cứ thì nói thiếu, không bịa</a:t>
            </a:r>
          </a:p>
        </p:txBody>
      </p:sp>
      <p:sp>
        <p:nvSpPr>
          <p:cNvPr id="29" name="TextBox 28"/>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0" name="TextBox 29"/>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LIVE DEMO — 5 PHÚT</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Kịch bản demo trực tiếp</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66928" cy="566928"/>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09928"/>
            <a:ext cx="566928" cy="228600"/>
          </a:xfrm>
          <a:prstGeom prst="rect">
            <a:avLst/>
          </a:prstGeom>
          <a:noFill/>
        </p:spPr>
        <p:txBody>
          <a:bodyPr wrap="square" anchor="t">
            <a:spAutoFit/>
          </a:bodyPr>
          <a:lstStyle/>
          <a:p>
            <a:pPr algn="ctr">
              <a:defRPr sz="1200" b="1">
                <a:solidFill>
                  <a:srgbClr val="FFFFFF"/>
                </a:solidFill>
                <a:latin typeface="Aptos"/>
              </a:defRPr>
            </a:pPr>
            <a:r>
              <a:t>01</a:t>
            </a:r>
          </a:p>
        </p:txBody>
      </p:sp>
      <p:sp>
        <p:nvSpPr>
          <p:cNvPr id="7" name="TextBox 6"/>
          <p:cNvSpPr txBox="1"/>
          <p:nvPr/>
        </p:nvSpPr>
        <p:spPr>
          <a:xfrm>
            <a:off x="1600200" y="1600200"/>
            <a:ext cx="2057400" cy="292608"/>
          </a:xfrm>
          <a:prstGeom prst="rect">
            <a:avLst/>
          </a:prstGeom>
          <a:noFill/>
        </p:spPr>
        <p:txBody>
          <a:bodyPr wrap="square" anchor="t">
            <a:spAutoFit/>
          </a:bodyPr>
          <a:lstStyle/>
          <a:p>
            <a:pPr algn="l">
              <a:defRPr sz="1500" b="1">
                <a:solidFill>
                  <a:srgbClr val="082349"/>
                </a:solidFill>
                <a:latin typeface="Aptos"/>
              </a:defRPr>
            </a:pPr>
            <a:r>
              <a:t>Grounded policy</a:t>
            </a:r>
          </a:p>
        </p:txBody>
      </p:sp>
      <p:sp>
        <p:nvSpPr>
          <p:cNvPr id="8" name="TextBox 7"/>
          <p:cNvSpPr txBox="1"/>
          <p:nvPr/>
        </p:nvSpPr>
        <p:spPr>
          <a:xfrm>
            <a:off x="3657600" y="1581912"/>
            <a:ext cx="7406640" cy="502920"/>
          </a:xfrm>
          <a:prstGeom prst="rect">
            <a:avLst/>
          </a:prstGeom>
          <a:noFill/>
        </p:spPr>
        <p:txBody>
          <a:bodyPr wrap="square" anchor="t">
            <a:spAutoFit/>
          </a:bodyPr>
          <a:lstStyle/>
          <a:p>
            <a:pPr algn="l">
              <a:defRPr sz="1400" b="0">
                <a:solidFill>
                  <a:srgbClr val="596B81"/>
                </a:solidFill>
                <a:latin typeface="Aptos"/>
              </a:defRPr>
            </a:pPr>
            <a:r>
              <a:t>“Nhân viên có bao nhiêu ngày phép năm?” → 12 ngày theo tài liệu.</a:t>
            </a:r>
          </a:p>
        </p:txBody>
      </p:sp>
      <p:sp>
        <p:nvSpPr>
          <p:cNvPr id="9" name="Rounded Rectangle 8"/>
          <p:cNvSpPr/>
          <p:nvPr/>
        </p:nvSpPr>
        <p:spPr>
          <a:xfrm>
            <a:off x="777240" y="2468880"/>
            <a:ext cx="566928" cy="566928"/>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06040"/>
            <a:ext cx="566928" cy="228600"/>
          </a:xfrm>
          <a:prstGeom prst="rect">
            <a:avLst/>
          </a:prstGeom>
          <a:noFill/>
        </p:spPr>
        <p:txBody>
          <a:bodyPr wrap="square" anchor="t">
            <a:spAutoFit/>
          </a:bodyPr>
          <a:lstStyle/>
          <a:p>
            <a:pPr algn="ctr">
              <a:defRPr sz="1200" b="1">
                <a:solidFill>
                  <a:srgbClr val="FFFFFF"/>
                </a:solidFill>
                <a:latin typeface="Aptos"/>
              </a:defRPr>
            </a:pPr>
            <a:r>
              <a:t>02</a:t>
            </a:r>
          </a:p>
        </p:txBody>
      </p:sp>
      <p:sp>
        <p:nvSpPr>
          <p:cNvPr id="11" name="TextBox 10"/>
          <p:cNvSpPr txBox="1"/>
          <p:nvPr/>
        </p:nvSpPr>
        <p:spPr>
          <a:xfrm>
            <a:off x="1600200" y="2496312"/>
            <a:ext cx="2057400" cy="292608"/>
          </a:xfrm>
          <a:prstGeom prst="rect">
            <a:avLst/>
          </a:prstGeom>
          <a:noFill/>
        </p:spPr>
        <p:txBody>
          <a:bodyPr wrap="square" anchor="t">
            <a:spAutoFit/>
          </a:bodyPr>
          <a:lstStyle/>
          <a:p>
            <a:pPr algn="l">
              <a:defRPr sz="1500" b="1">
                <a:solidFill>
                  <a:srgbClr val="082349"/>
                </a:solidFill>
                <a:latin typeface="Aptos"/>
              </a:defRPr>
            </a:pPr>
            <a:r>
              <a:t>Natural language</a:t>
            </a:r>
          </a:p>
        </p:txBody>
      </p:sp>
      <p:sp>
        <p:nvSpPr>
          <p:cNvPr id="12" name="TextBox 11"/>
          <p:cNvSpPr txBox="1"/>
          <p:nvPr/>
        </p:nvSpPr>
        <p:spPr>
          <a:xfrm>
            <a:off x="3657600" y="2478024"/>
            <a:ext cx="7406640" cy="502920"/>
          </a:xfrm>
          <a:prstGeom prst="rect">
            <a:avLst/>
          </a:prstGeom>
          <a:noFill/>
        </p:spPr>
        <p:txBody>
          <a:bodyPr wrap="square" anchor="t">
            <a:spAutoFit/>
          </a:bodyPr>
          <a:lstStyle/>
          <a:p>
            <a:pPr algn="l">
              <a:defRPr sz="1400" b="0">
                <a:solidFill>
                  <a:srgbClr val="596B81"/>
                </a:solidFill>
                <a:latin typeface="Aptos"/>
              </a:defRPr>
            </a:pPr>
            <a:r>
              <a:t>“Mai tôi không đi làm được thì báo ai?” → hỏi lý do + hướng quản lý.</a:t>
            </a:r>
          </a:p>
        </p:txBody>
      </p:sp>
      <p:sp>
        <p:nvSpPr>
          <p:cNvPr id="13" name="Rounded Rectangle 12"/>
          <p:cNvSpPr/>
          <p:nvPr/>
        </p:nvSpPr>
        <p:spPr>
          <a:xfrm>
            <a:off x="777240" y="3364991"/>
            <a:ext cx="566928" cy="566928"/>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02151"/>
            <a:ext cx="566928" cy="228600"/>
          </a:xfrm>
          <a:prstGeom prst="rect">
            <a:avLst/>
          </a:prstGeom>
          <a:noFill/>
        </p:spPr>
        <p:txBody>
          <a:bodyPr wrap="square" anchor="t">
            <a:spAutoFit/>
          </a:bodyPr>
          <a:lstStyle/>
          <a:p>
            <a:pPr algn="ctr">
              <a:defRPr sz="1200" b="1">
                <a:solidFill>
                  <a:srgbClr val="FFFFFF"/>
                </a:solidFill>
                <a:latin typeface="Aptos"/>
              </a:defRPr>
            </a:pPr>
            <a:r>
              <a:t>03</a:t>
            </a:r>
          </a:p>
        </p:txBody>
      </p:sp>
      <p:sp>
        <p:nvSpPr>
          <p:cNvPr id="15" name="TextBox 14"/>
          <p:cNvSpPr txBox="1"/>
          <p:nvPr/>
        </p:nvSpPr>
        <p:spPr>
          <a:xfrm>
            <a:off x="1600200" y="3392423"/>
            <a:ext cx="2057400" cy="292608"/>
          </a:xfrm>
          <a:prstGeom prst="rect">
            <a:avLst/>
          </a:prstGeom>
          <a:noFill/>
        </p:spPr>
        <p:txBody>
          <a:bodyPr wrap="square" anchor="t">
            <a:spAutoFit/>
          </a:bodyPr>
          <a:lstStyle/>
          <a:p>
            <a:pPr algn="l">
              <a:defRPr sz="1500" b="1">
                <a:solidFill>
                  <a:srgbClr val="082349"/>
                </a:solidFill>
                <a:latin typeface="Aptos"/>
              </a:defRPr>
            </a:pPr>
            <a:r>
              <a:t>Multi-turn action</a:t>
            </a:r>
          </a:p>
        </p:txBody>
      </p:sp>
      <p:sp>
        <p:nvSpPr>
          <p:cNvPr id="16" name="TextBox 15"/>
          <p:cNvSpPr txBox="1"/>
          <p:nvPr/>
        </p:nvSpPr>
        <p:spPr>
          <a:xfrm>
            <a:off x="3657600" y="3374135"/>
            <a:ext cx="7406640" cy="502920"/>
          </a:xfrm>
          <a:prstGeom prst="rect">
            <a:avLst/>
          </a:prstGeom>
          <a:noFill/>
        </p:spPr>
        <p:txBody>
          <a:bodyPr wrap="square" anchor="t">
            <a:spAutoFit/>
          </a:bodyPr>
          <a:lstStyle/>
          <a:p>
            <a:pPr algn="l">
              <a:defRPr sz="1400" b="0">
                <a:solidFill>
                  <a:srgbClr val="596B81"/>
                </a:solidFill>
                <a:latin typeface="Aptos"/>
              </a:defRPr>
            </a:pPr>
            <a:r>
              <a:t>“Tôi muốn xin nghỉ phép” → ngày → lý do → bàn giao → form.</a:t>
            </a:r>
          </a:p>
        </p:txBody>
      </p:sp>
      <p:sp>
        <p:nvSpPr>
          <p:cNvPr id="17" name="Rounded Rectangle 16"/>
          <p:cNvSpPr/>
          <p:nvPr/>
        </p:nvSpPr>
        <p:spPr>
          <a:xfrm>
            <a:off x="777240" y="4261104"/>
            <a:ext cx="566928" cy="566928"/>
          </a:xfrm>
          <a:prstGeom prst="roundRect">
            <a:avLst/>
          </a:prstGeom>
          <a:solidFill>
            <a:srgbClr val="C1373E"/>
          </a:solidFill>
          <a:ln>
            <a:solidFill>
              <a:srgbClr val="C137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398264"/>
            <a:ext cx="566928" cy="228600"/>
          </a:xfrm>
          <a:prstGeom prst="rect">
            <a:avLst/>
          </a:prstGeom>
          <a:noFill/>
        </p:spPr>
        <p:txBody>
          <a:bodyPr wrap="square" anchor="t">
            <a:spAutoFit/>
          </a:bodyPr>
          <a:lstStyle/>
          <a:p>
            <a:pPr algn="ctr">
              <a:defRPr sz="1200" b="1">
                <a:solidFill>
                  <a:srgbClr val="FFFFFF"/>
                </a:solidFill>
                <a:latin typeface="Aptos"/>
              </a:defRPr>
            </a:pPr>
            <a:r>
              <a:t>04</a:t>
            </a:r>
          </a:p>
        </p:txBody>
      </p:sp>
      <p:sp>
        <p:nvSpPr>
          <p:cNvPr id="19" name="TextBox 18"/>
          <p:cNvSpPr txBox="1"/>
          <p:nvPr/>
        </p:nvSpPr>
        <p:spPr>
          <a:xfrm>
            <a:off x="1600200" y="4288536"/>
            <a:ext cx="2057400" cy="292608"/>
          </a:xfrm>
          <a:prstGeom prst="rect">
            <a:avLst/>
          </a:prstGeom>
          <a:noFill/>
        </p:spPr>
        <p:txBody>
          <a:bodyPr wrap="square" anchor="t">
            <a:spAutoFit/>
          </a:bodyPr>
          <a:lstStyle/>
          <a:p>
            <a:pPr algn="l">
              <a:defRPr sz="1500" b="1">
                <a:solidFill>
                  <a:srgbClr val="082349"/>
                </a:solidFill>
                <a:latin typeface="Aptos"/>
              </a:defRPr>
            </a:pPr>
            <a:r>
              <a:t>Privacy guardrail</a:t>
            </a:r>
          </a:p>
        </p:txBody>
      </p:sp>
      <p:sp>
        <p:nvSpPr>
          <p:cNvPr id="20" name="TextBox 19"/>
          <p:cNvSpPr txBox="1"/>
          <p:nvPr/>
        </p:nvSpPr>
        <p:spPr>
          <a:xfrm>
            <a:off x="3657600" y="4270248"/>
            <a:ext cx="7406640" cy="502920"/>
          </a:xfrm>
          <a:prstGeom prst="rect">
            <a:avLst/>
          </a:prstGeom>
          <a:noFill/>
        </p:spPr>
        <p:txBody>
          <a:bodyPr wrap="square" anchor="t">
            <a:spAutoFit/>
          </a:bodyPr>
          <a:lstStyle/>
          <a:p>
            <a:pPr algn="l">
              <a:defRPr sz="1400" b="0">
                <a:solidFill>
                  <a:srgbClr val="596B81"/>
                </a:solidFill>
                <a:latin typeface="Aptos"/>
              </a:defRPr>
            </a:pPr>
            <a:r>
              <a:t>“Cho tôi biết lương đồng nghiệp” → từ chối rõ ràng.</a:t>
            </a:r>
          </a:p>
        </p:txBody>
      </p:sp>
      <p:sp>
        <p:nvSpPr>
          <p:cNvPr id="21" name="Rounded Rectangle 20"/>
          <p:cNvSpPr/>
          <p:nvPr/>
        </p:nvSpPr>
        <p:spPr>
          <a:xfrm>
            <a:off x="777240" y="5157216"/>
            <a:ext cx="566928" cy="566928"/>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294376"/>
            <a:ext cx="566928" cy="228600"/>
          </a:xfrm>
          <a:prstGeom prst="rect">
            <a:avLst/>
          </a:prstGeom>
          <a:noFill/>
        </p:spPr>
        <p:txBody>
          <a:bodyPr wrap="square" anchor="t">
            <a:spAutoFit/>
          </a:bodyPr>
          <a:lstStyle/>
          <a:p>
            <a:pPr algn="ctr">
              <a:defRPr sz="1200" b="1">
                <a:solidFill>
                  <a:srgbClr val="FFFFFF"/>
                </a:solidFill>
                <a:latin typeface="Aptos"/>
              </a:defRPr>
            </a:pPr>
            <a:r>
              <a:t>05</a:t>
            </a:r>
          </a:p>
        </p:txBody>
      </p:sp>
      <p:sp>
        <p:nvSpPr>
          <p:cNvPr id="23" name="TextBox 22"/>
          <p:cNvSpPr txBox="1"/>
          <p:nvPr/>
        </p:nvSpPr>
        <p:spPr>
          <a:xfrm>
            <a:off x="1600200" y="5184648"/>
            <a:ext cx="2057400" cy="292608"/>
          </a:xfrm>
          <a:prstGeom prst="rect">
            <a:avLst/>
          </a:prstGeom>
          <a:noFill/>
        </p:spPr>
        <p:txBody>
          <a:bodyPr wrap="square" anchor="t">
            <a:spAutoFit/>
          </a:bodyPr>
          <a:lstStyle/>
          <a:p>
            <a:pPr algn="l">
              <a:defRPr sz="1500" b="1">
                <a:solidFill>
                  <a:srgbClr val="082349"/>
                </a:solidFill>
                <a:latin typeface="Aptos"/>
              </a:defRPr>
            </a:pPr>
            <a:r>
              <a:t>Cross-surface</a:t>
            </a:r>
          </a:p>
        </p:txBody>
      </p:sp>
      <p:sp>
        <p:nvSpPr>
          <p:cNvPr id="24" name="TextBox 23"/>
          <p:cNvSpPr txBox="1"/>
          <p:nvPr/>
        </p:nvSpPr>
        <p:spPr>
          <a:xfrm>
            <a:off x="3657600" y="5166359"/>
            <a:ext cx="7406640" cy="502920"/>
          </a:xfrm>
          <a:prstGeom prst="rect">
            <a:avLst/>
          </a:prstGeom>
          <a:noFill/>
        </p:spPr>
        <p:txBody>
          <a:bodyPr wrap="square" anchor="t">
            <a:spAutoFit/>
          </a:bodyPr>
          <a:lstStyle/>
          <a:p>
            <a:pPr algn="l">
              <a:defRPr sz="1400" b="0">
                <a:solidFill>
                  <a:srgbClr val="596B81"/>
                </a:solidFill>
                <a:latin typeface="Aptos"/>
              </a:defRPr>
            </a:pPr>
            <a:r>
              <a:t>Bắt đầu ở widget → chuyển màn lớn → tiếp tục đúng ngữ cảnh.</a:t>
            </a:r>
          </a:p>
        </p:txBody>
      </p:sp>
      <p:sp>
        <p:nvSpPr>
          <p:cNvPr id="25" name="TextBox 24"/>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26" name="TextBox 25"/>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PRODUCT PROOF</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Giao diện đang chạy</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mo_chat_desktop.png"/>
          <p:cNvPicPr>
            <a:picLocks noChangeAspect="1"/>
          </p:cNvPicPr>
          <p:nvPr/>
        </p:nvPicPr>
        <p:blipFill>
          <a:blip r:embed="rId2"/>
          <a:stretch>
            <a:fillRect/>
          </a:stretch>
        </p:blipFill>
        <p:spPr>
          <a:xfrm>
            <a:off x="685800" y="1481328"/>
            <a:ext cx="7818120" cy="4662283"/>
          </a:xfrm>
          <a:prstGeom prst="rect">
            <a:avLst/>
          </a:prstGeom>
        </p:spPr>
      </p:pic>
      <p:sp>
        <p:nvSpPr>
          <p:cNvPr id="6" name="Rounded Rectangle 5"/>
          <p:cNvSpPr/>
          <p:nvPr/>
        </p:nvSpPr>
        <p:spPr>
          <a:xfrm>
            <a:off x="8778240" y="1481328"/>
            <a:ext cx="2697480" cy="452628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1828800"/>
            <a:ext cx="2011680" cy="320040"/>
          </a:xfrm>
          <a:prstGeom prst="rect">
            <a:avLst/>
          </a:prstGeom>
          <a:noFill/>
        </p:spPr>
        <p:txBody>
          <a:bodyPr wrap="square" anchor="t">
            <a:spAutoFit/>
          </a:bodyPr>
          <a:lstStyle/>
          <a:p>
            <a:pPr algn="l">
              <a:defRPr sz="1800" b="1">
                <a:solidFill>
                  <a:srgbClr val="E5A923"/>
                </a:solidFill>
                <a:latin typeface="Aptos"/>
              </a:defRPr>
            </a:pPr>
            <a:r>
              <a:t>Điểm nhấn</a:t>
            </a:r>
          </a:p>
        </p:txBody>
      </p:sp>
      <p:sp>
        <p:nvSpPr>
          <p:cNvPr id="8" name="TextBox 7"/>
          <p:cNvSpPr txBox="1"/>
          <p:nvPr/>
        </p:nvSpPr>
        <p:spPr>
          <a:xfrm>
            <a:off x="9098280" y="2423160"/>
            <a:ext cx="1965960" cy="2651760"/>
          </a:xfrm>
          <a:prstGeom prst="rect">
            <a:avLst/>
          </a:prstGeom>
          <a:noFill/>
        </p:spPr>
        <p:txBody>
          <a:bodyPr wrap="square">
            <a:spAutoFit/>
          </a:bodyPr>
          <a:lstStyle/>
          <a:p>
            <a:pPr>
              <a:spcAft>
                <a:spcPts val="1100"/>
              </a:spcAft>
              <a:defRPr sz="1400">
                <a:solidFill>
                  <a:srgbClr val="FFFFFF"/>
                </a:solidFill>
                <a:latin typeface="Aptos"/>
              </a:defRPr>
            </a:pPr>
            <a:r>
              <a:t>•  Responsive mobile</a:t>
            </a:r>
          </a:p>
          <a:p>
            <a:pPr>
              <a:spcAft>
                <a:spcPts val="1100"/>
              </a:spcAft>
              <a:defRPr sz="1400">
                <a:solidFill>
                  <a:srgbClr val="FFFFFF"/>
                </a:solidFill>
                <a:latin typeface="Aptos"/>
              </a:defRPr>
            </a:pPr>
            <a:r>
              <a:t>•  Input luôn trong viewport</a:t>
            </a:r>
          </a:p>
          <a:p>
            <a:pPr>
              <a:spcAft>
                <a:spcPts val="1100"/>
              </a:spcAft>
              <a:defRPr sz="1400">
                <a:solidFill>
                  <a:srgbClr val="FFFFFF"/>
                </a:solidFill>
                <a:latin typeface="Aptos"/>
              </a:defRPr>
            </a:pPr>
            <a:r>
              <a:t>•  Không reset khi chuyển widget</a:t>
            </a:r>
          </a:p>
          <a:p>
            <a:pPr>
              <a:spcAft>
                <a:spcPts val="1100"/>
              </a:spcAft>
              <a:defRPr sz="1400">
                <a:solidFill>
                  <a:srgbClr val="FFFFFF"/>
                </a:solidFill>
                <a:latin typeface="Aptos"/>
              </a:defRPr>
            </a:pPr>
            <a:r>
              <a:t>•  Văn phong người dùng cuối</a:t>
            </a:r>
          </a:p>
          <a:p>
            <a:pPr>
              <a:spcAft>
                <a:spcPts val="1100"/>
              </a:spcAft>
              <a:defRPr sz="1400">
                <a:solidFill>
                  <a:srgbClr val="FFFFFF"/>
                </a:solidFill>
                <a:latin typeface="Aptos"/>
              </a:defRPr>
            </a:pPr>
            <a:r>
              <a:t>•  Không hiển thị log kỹ thuật</a:t>
            </a:r>
          </a:p>
        </p:txBody>
      </p:sp>
      <p:sp>
        <p:nvSpPr>
          <p:cNvPr id="9" name="TextBox 8"/>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10" name="TextBox 9"/>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00:45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VERIFICATION</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QA: đã kiểm tra như một sản phẩm, không chỉ chạy được</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45920"/>
            <a:ext cx="242316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810512"/>
            <a:ext cx="2093976" cy="411480"/>
          </a:xfrm>
          <a:prstGeom prst="rect">
            <a:avLst/>
          </a:prstGeom>
          <a:noFill/>
        </p:spPr>
        <p:txBody>
          <a:bodyPr wrap="square" anchor="t">
            <a:spAutoFit/>
          </a:bodyPr>
          <a:lstStyle/>
          <a:p>
            <a:pPr algn="l">
              <a:defRPr sz="2500" b="1">
                <a:solidFill>
                  <a:srgbClr val="128C5B"/>
                </a:solidFill>
                <a:latin typeface="Aptos"/>
              </a:defRPr>
            </a:pPr>
            <a:r>
              <a:t>26 / 26</a:t>
            </a:r>
          </a:p>
        </p:txBody>
      </p:sp>
      <p:sp>
        <p:nvSpPr>
          <p:cNvPr id="7" name="TextBox 6"/>
          <p:cNvSpPr txBox="1"/>
          <p:nvPr/>
        </p:nvSpPr>
        <p:spPr>
          <a:xfrm>
            <a:off x="941832" y="2304288"/>
            <a:ext cx="2093976" cy="292608"/>
          </a:xfrm>
          <a:prstGeom prst="rect">
            <a:avLst/>
          </a:prstGeom>
          <a:noFill/>
        </p:spPr>
        <p:txBody>
          <a:bodyPr wrap="square" anchor="t">
            <a:spAutoFit/>
          </a:bodyPr>
          <a:lstStyle/>
          <a:p>
            <a:pPr algn="l">
              <a:defRPr sz="1100" b="0">
                <a:solidFill>
                  <a:srgbClr val="596B81"/>
                </a:solidFill>
                <a:latin typeface="Aptos"/>
              </a:defRPr>
            </a:pPr>
            <a:r>
              <a:t>Browser E2E passed</a:t>
            </a:r>
          </a:p>
        </p:txBody>
      </p:sp>
      <p:sp>
        <p:nvSpPr>
          <p:cNvPr id="8" name="Rounded Rectangle 7"/>
          <p:cNvSpPr/>
          <p:nvPr/>
        </p:nvSpPr>
        <p:spPr>
          <a:xfrm>
            <a:off x="3474720" y="1645920"/>
            <a:ext cx="242316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810512"/>
            <a:ext cx="2093976" cy="411480"/>
          </a:xfrm>
          <a:prstGeom prst="rect">
            <a:avLst/>
          </a:prstGeom>
          <a:noFill/>
        </p:spPr>
        <p:txBody>
          <a:bodyPr wrap="square" anchor="t">
            <a:spAutoFit/>
          </a:bodyPr>
          <a:lstStyle/>
          <a:p>
            <a:pPr algn="l">
              <a:defRPr sz="2500" b="1">
                <a:solidFill>
                  <a:srgbClr val="128C5B"/>
                </a:solidFill>
                <a:latin typeface="Aptos"/>
              </a:defRPr>
            </a:pPr>
            <a:r>
              <a:t>14 / 14</a:t>
            </a:r>
          </a:p>
        </p:txBody>
      </p:sp>
      <p:sp>
        <p:nvSpPr>
          <p:cNvPr id="10" name="TextBox 9"/>
          <p:cNvSpPr txBox="1"/>
          <p:nvPr/>
        </p:nvSpPr>
        <p:spPr>
          <a:xfrm>
            <a:off x="3639312" y="2304288"/>
            <a:ext cx="2093976" cy="292608"/>
          </a:xfrm>
          <a:prstGeom prst="rect">
            <a:avLst/>
          </a:prstGeom>
          <a:noFill/>
        </p:spPr>
        <p:txBody>
          <a:bodyPr wrap="square" anchor="t">
            <a:spAutoFit/>
          </a:bodyPr>
          <a:lstStyle/>
          <a:p>
            <a:pPr algn="l">
              <a:defRPr sz="1100" b="0">
                <a:solidFill>
                  <a:srgbClr val="596B81"/>
                </a:solidFill>
                <a:latin typeface="Aptos"/>
              </a:defRPr>
            </a:pPr>
            <a:r>
              <a:t>Focused RAG regression</a:t>
            </a:r>
          </a:p>
        </p:txBody>
      </p:sp>
      <p:sp>
        <p:nvSpPr>
          <p:cNvPr id="11" name="Rounded Rectangle 10"/>
          <p:cNvSpPr/>
          <p:nvPr/>
        </p:nvSpPr>
        <p:spPr>
          <a:xfrm>
            <a:off x="6172200" y="1645920"/>
            <a:ext cx="242316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810512"/>
            <a:ext cx="2093976" cy="411480"/>
          </a:xfrm>
          <a:prstGeom prst="rect">
            <a:avLst/>
          </a:prstGeom>
          <a:noFill/>
        </p:spPr>
        <p:txBody>
          <a:bodyPr wrap="square" anchor="t">
            <a:spAutoFit/>
          </a:bodyPr>
          <a:lstStyle/>
          <a:p>
            <a:pPr algn="l">
              <a:defRPr sz="2500" b="1">
                <a:solidFill>
                  <a:srgbClr val="0EA5E9"/>
                </a:solidFill>
                <a:latin typeface="Aptos"/>
              </a:defRPr>
            </a:pPr>
            <a:r>
              <a:t>320 px</a:t>
            </a:r>
          </a:p>
        </p:txBody>
      </p:sp>
      <p:sp>
        <p:nvSpPr>
          <p:cNvPr id="13" name="TextBox 12"/>
          <p:cNvSpPr txBox="1"/>
          <p:nvPr/>
        </p:nvSpPr>
        <p:spPr>
          <a:xfrm>
            <a:off x="6336792" y="2304288"/>
            <a:ext cx="2093976" cy="292608"/>
          </a:xfrm>
          <a:prstGeom prst="rect">
            <a:avLst/>
          </a:prstGeom>
          <a:noFill/>
        </p:spPr>
        <p:txBody>
          <a:bodyPr wrap="square" anchor="t">
            <a:spAutoFit/>
          </a:bodyPr>
          <a:lstStyle/>
          <a:p>
            <a:pPr algn="l">
              <a:defRPr sz="1100" b="0">
                <a:solidFill>
                  <a:srgbClr val="596B81"/>
                </a:solidFill>
                <a:latin typeface="Aptos"/>
              </a:defRPr>
            </a:pPr>
            <a:r>
              <a:t>Narrow mobile verified</a:t>
            </a:r>
          </a:p>
        </p:txBody>
      </p:sp>
      <p:sp>
        <p:nvSpPr>
          <p:cNvPr id="14" name="Rounded Rectangle 13"/>
          <p:cNvSpPr/>
          <p:nvPr/>
        </p:nvSpPr>
        <p:spPr>
          <a:xfrm>
            <a:off x="8869680" y="1645920"/>
            <a:ext cx="2423160" cy="1143000"/>
          </a:xfrm>
          <a:prstGeom prst="roundRect">
            <a:avLst/>
          </a:prstGeom>
          <a:solidFill>
            <a:srgbClr val="FFFFFF"/>
          </a:solidFill>
          <a:ln>
            <a:solidFill>
              <a:srgbClr val="D7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1810512"/>
            <a:ext cx="2093976" cy="411480"/>
          </a:xfrm>
          <a:prstGeom prst="rect">
            <a:avLst/>
          </a:prstGeom>
          <a:noFill/>
        </p:spPr>
        <p:txBody>
          <a:bodyPr wrap="square" anchor="t">
            <a:spAutoFit/>
          </a:bodyPr>
          <a:lstStyle/>
          <a:p>
            <a:pPr algn="l">
              <a:defRPr sz="2500" b="1">
                <a:solidFill>
                  <a:srgbClr val="085C94"/>
                </a:solidFill>
                <a:latin typeface="Aptos"/>
              </a:defRPr>
            </a:pPr>
            <a:r>
              <a:t>0</a:t>
            </a:r>
          </a:p>
        </p:txBody>
      </p:sp>
      <p:sp>
        <p:nvSpPr>
          <p:cNvPr id="16" name="TextBox 15"/>
          <p:cNvSpPr txBox="1"/>
          <p:nvPr/>
        </p:nvSpPr>
        <p:spPr>
          <a:xfrm>
            <a:off x="9034272" y="2304288"/>
            <a:ext cx="2093976" cy="292608"/>
          </a:xfrm>
          <a:prstGeom prst="rect">
            <a:avLst/>
          </a:prstGeom>
          <a:noFill/>
        </p:spPr>
        <p:txBody>
          <a:bodyPr wrap="square" anchor="t">
            <a:spAutoFit/>
          </a:bodyPr>
          <a:lstStyle/>
          <a:p>
            <a:pPr algn="l">
              <a:defRPr sz="1100" b="0">
                <a:solidFill>
                  <a:srgbClr val="596B81"/>
                </a:solidFill>
                <a:latin typeface="Aptos"/>
              </a:defRPr>
            </a:pPr>
            <a:r>
              <a:t>Horizontal overflow</a:t>
            </a:r>
          </a:p>
        </p:txBody>
      </p:sp>
      <p:sp>
        <p:nvSpPr>
          <p:cNvPr id="17" name="TextBox 16"/>
          <p:cNvSpPr txBox="1"/>
          <p:nvPr/>
        </p:nvSpPr>
        <p:spPr>
          <a:xfrm>
            <a:off x="914400" y="3337560"/>
            <a:ext cx="10241280" cy="2011680"/>
          </a:xfrm>
          <a:prstGeom prst="rect">
            <a:avLst/>
          </a:prstGeom>
          <a:noFill/>
        </p:spPr>
        <p:txBody>
          <a:bodyPr wrap="square">
            <a:spAutoFit/>
          </a:bodyPr>
          <a:lstStyle/>
          <a:p>
            <a:pPr>
              <a:spcAft>
                <a:spcPts val="1100"/>
              </a:spcAft>
              <a:defRPr sz="1600">
                <a:solidFill>
                  <a:srgbClr val="141F30"/>
                </a:solidFill>
                <a:latin typeface="Aptos"/>
              </a:defRPr>
            </a:pPr>
            <a:r>
              <a:t>•  Nghiệp vụ: nghỉ phép, nghỉ ốm, chấm công, OT, bảo hiểm, onboarding, lương.</a:t>
            </a:r>
          </a:p>
          <a:p>
            <a:pPr>
              <a:spcAft>
                <a:spcPts val="1100"/>
              </a:spcAft>
              <a:defRPr sz="1600">
                <a:solidFill>
                  <a:srgbClr val="141F30"/>
                </a:solidFill>
                <a:latin typeface="Aptos"/>
              </a:defRPr>
            </a:pPr>
            <a:r>
              <a:t>•  An toàn: privacy, prompt injection, câu ngoài phạm vi, secret/access request.</a:t>
            </a:r>
          </a:p>
          <a:p>
            <a:pPr>
              <a:spcAft>
                <a:spcPts val="1100"/>
              </a:spcAft>
              <a:defRPr sz="1600">
                <a:solidFill>
                  <a:srgbClr val="141F30"/>
                </a:solidFill>
                <a:latin typeface="Aptos"/>
              </a:defRPr>
            </a:pPr>
            <a:r>
              <a:t>•  Hội thoại: ok, cảm ơn, hiểu rồi, hủy luồng, follow-up và đồng bộ hai giao diện.</a:t>
            </a:r>
          </a:p>
          <a:p>
            <a:pPr>
              <a:spcAft>
                <a:spcPts val="1100"/>
              </a:spcAft>
              <a:defRPr sz="1600">
                <a:solidFill>
                  <a:srgbClr val="141F30"/>
                </a:solidFill>
                <a:latin typeface="Aptos"/>
              </a:defRPr>
            </a:pPr>
            <a:r>
              <a:t>•  Frontend production build đã thành công.</a:t>
            </a:r>
          </a:p>
        </p:txBody>
      </p:sp>
      <p:sp>
        <p:nvSpPr>
          <p:cNvPr id="18" name="TextBox 17"/>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19" name="TextBox 18"/>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READINESS</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Những gì đã tốt — và giới hạn cần nói thẳng</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257800" cy="4389120"/>
          </a:xfrm>
          <a:prstGeom prst="roundRect">
            <a:avLst/>
          </a:prstGeom>
          <a:solidFill>
            <a:srgbClr val="EBF9F3"/>
          </a:solidFill>
          <a:ln>
            <a:solidFill>
              <a:srgbClr val="BCE4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01952"/>
            <a:ext cx="4389120" cy="365760"/>
          </a:xfrm>
          <a:prstGeom prst="rect">
            <a:avLst/>
          </a:prstGeom>
          <a:noFill/>
        </p:spPr>
        <p:txBody>
          <a:bodyPr wrap="square" anchor="t">
            <a:spAutoFit/>
          </a:bodyPr>
          <a:lstStyle/>
          <a:p>
            <a:pPr algn="l">
              <a:defRPr sz="2000" b="1">
                <a:solidFill>
                  <a:srgbClr val="128C5B"/>
                </a:solidFill>
                <a:latin typeface="Aptos"/>
              </a:defRPr>
            </a:pPr>
            <a:r>
              <a:t>Sẵn sàng pilot nội bộ</a:t>
            </a:r>
          </a:p>
        </p:txBody>
      </p:sp>
      <p:sp>
        <p:nvSpPr>
          <p:cNvPr id="7" name="TextBox 6"/>
          <p:cNvSpPr txBox="1"/>
          <p:nvPr/>
        </p:nvSpPr>
        <p:spPr>
          <a:xfrm>
            <a:off x="1051560" y="2560320"/>
            <a:ext cx="4297680" cy="2286000"/>
          </a:xfrm>
          <a:prstGeom prst="rect">
            <a:avLst/>
          </a:prstGeom>
          <a:noFill/>
        </p:spPr>
        <p:txBody>
          <a:bodyPr wrap="square">
            <a:spAutoFit/>
          </a:bodyPr>
          <a:lstStyle/>
          <a:p>
            <a:pPr>
              <a:spcAft>
                <a:spcPts val="1100"/>
              </a:spcAft>
              <a:defRPr sz="1600">
                <a:solidFill>
                  <a:srgbClr val="141F30"/>
                </a:solidFill>
                <a:latin typeface="Aptos"/>
              </a:defRPr>
            </a:pPr>
            <a:r>
              <a:t>•  Luồng chính ổn định và có regression test.</a:t>
            </a:r>
          </a:p>
          <a:p>
            <a:pPr>
              <a:spcAft>
                <a:spcPts val="1100"/>
              </a:spcAft>
              <a:defRPr sz="1600">
                <a:solidFill>
                  <a:srgbClr val="141F30"/>
                </a:solidFill>
                <a:latin typeface="Aptos"/>
              </a:defRPr>
            </a:pPr>
            <a:r>
              <a:t>•  Guardrail deterministic cho ca rủi ro cao.</a:t>
            </a:r>
          </a:p>
          <a:p>
            <a:pPr>
              <a:spcAft>
                <a:spcPts val="1100"/>
              </a:spcAft>
              <a:defRPr sz="1600">
                <a:solidFill>
                  <a:srgbClr val="141F30"/>
                </a:solidFill>
                <a:latin typeface="Aptos"/>
              </a:defRPr>
            </a:pPr>
            <a:r>
              <a:t>•  Responsive desktop/mobile.</a:t>
            </a:r>
          </a:p>
          <a:p>
            <a:pPr>
              <a:spcAft>
                <a:spcPts val="1100"/>
              </a:spcAft>
              <a:defRPr sz="1600">
                <a:solidFill>
                  <a:srgbClr val="141F30"/>
                </a:solidFill>
                <a:latin typeface="Aptos"/>
              </a:defRPr>
            </a:pPr>
            <a:r>
              <a:t>•  Không hard-code API key.</a:t>
            </a:r>
          </a:p>
        </p:txBody>
      </p:sp>
      <p:sp>
        <p:nvSpPr>
          <p:cNvPr id="8" name="Rounded Rectangle 7"/>
          <p:cNvSpPr/>
          <p:nvPr/>
        </p:nvSpPr>
        <p:spPr>
          <a:xfrm>
            <a:off x="6263640" y="1600200"/>
            <a:ext cx="5212080" cy="4389120"/>
          </a:xfrm>
          <a:prstGeom prst="roundRect">
            <a:avLst/>
          </a:prstGeom>
          <a:solidFill>
            <a:srgbClr val="FFF7E8"/>
          </a:solidFill>
          <a:ln>
            <a:solidFill>
              <a:srgbClr val="EFD7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01952"/>
            <a:ext cx="4389120" cy="365760"/>
          </a:xfrm>
          <a:prstGeom prst="rect">
            <a:avLst/>
          </a:prstGeom>
          <a:noFill/>
        </p:spPr>
        <p:txBody>
          <a:bodyPr wrap="square" anchor="t">
            <a:spAutoFit/>
          </a:bodyPr>
          <a:lstStyle/>
          <a:p>
            <a:pPr algn="l">
              <a:defRPr sz="2000" b="1">
                <a:solidFill>
                  <a:srgbClr val="E5A923"/>
                </a:solidFill>
                <a:latin typeface="Aptos"/>
              </a:defRPr>
            </a:pPr>
            <a:r>
              <a:t>Trước khi scale enterprise</a:t>
            </a:r>
          </a:p>
        </p:txBody>
      </p:sp>
      <p:sp>
        <p:nvSpPr>
          <p:cNvPr id="10" name="TextBox 9"/>
          <p:cNvSpPr txBox="1"/>
          <p:nvPr/>
        </p:nvSpPr>
        <p:spPr>
          <a:xfrm>
            <a:off x="6583680" y="2560320"/>
            <a:ext cx="4297680" cy="2286000"/>
          </a:xfrm>
          <a:prstGeom prst="rect">
            <a:avLst/>
          </a:prstGeom>
          <a:noFill/>
        </p:spPr>
        <p:txBody>
          <a:bodyPr wrap="square">
            <a:spAutoFit/>
          </a:bodyPr>
          <a:lstStyle/>
          <a:p>
            <a:pPr>
              <a:spcAft>
                <a:spcPts val="1100"/>
              </a:spcAft>
              <a:defRPr sz="1600">
                <a:solidFill>
                  <a:srgbClr val="141F30"/>
                </a:solidFill>
                <a:latin typeface="Aptos"/>
              </a:defRPr>
            </a:pPr>
            <a:r>
              <a:t>•  Bổ sung telemetry và dashboard chất lượng.</a:t>
            </a:r>
          </a:p>
          <a:p>
            <a:pPr>
              <a:spcAft>
                <a:spcPts val="1100"/>
              </a:spcAft>
              <a:defRPr sz="1600">
                <a:solidFill>
                  <a:srgbClr val="141F30"/>
                </a:solidFill>
                <a:latin typeface="Aptos"/>
              </a:defRPr>
            </a:pPr>
            <a:r>
              <a:t>•  Golden dataset lớn hơn theo phòng ban.</a:t>
            </a:r>
          </a:p>
          <a:p>
            <a:pPr>
              <a:spcAft>
                <a:spcPts val="1100"/>
              </a:spcAft>
              <a:defRPr sz="1600">
                <a:solidFill>
                  <a:srgbClr val="141F30"/>
                </a:solidFill>
                <a:latin typeface="Aptos"/>
              </a:defRPr>
            </a:pPr>
            <a:r>
              <a:t>•  SSO / enterprise identity và audit retention.</a:t>
            </a:r>
          </a:p>
          <a:p>
            <a:pPr>
              <a:spcAft>
                <a:spcPts val="1100"/>
              </a:spcAft>
              <a:defRPr sz="1600">
                <a:solidFill>
                  <a:srgbClr val="141F30"/>
                </a:solidFill>
                <a:latin typeface="Aptos"/>
              </a:defRPr>
            </a:pPr>
            <a:r>
              <a:t>•  Quy trình versioning, approval và rollback tài liệu.</a:t>
            </a:r>
          </a:p>
        </p:txBody>
      </p:sp>
      <p:sp>
        <p:nvSpPr>
          <p:cNvPr id="11" name="TextBox 10"/>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12" name="TextBox 11"/>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NEXT 6–8 WEEKS</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Roadmap đề xuất</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2450592" cy="333756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2450592" cy="146304"/>
          </a:xfrm>
          <a:prstGeom prst="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12848"/>
            <a:ext cx="2057400" cy="274320"/>
          </a:xfrm>
          <a:prstGeom prst="rect">
            <a:avLst/>
          </a:prstGeom>
          <a:noFill/>
        </p:spPr>
        <p:txBody>
          <a:bodyPr wrap="square" anchor="t">
            <a:spAutoFit/>
          </a:bodyPr>
          <a:lstStyle/>
          <a:p>
            <a:pPr algn="l">
              <a:defRPr sz="1200" b="1">
                <a:solidFill>
                  <a:srgbClr val="128C5B"/>
                </a:solidFill>
                <a:latin typeface="Aptos"/>
              </a:defRPr>
            </a:pPr>
            <a:r>
              <a:t>NOW</a:t>
            </a:r>
          </a:p>
        </p:txBody>
      </p:sp>
      <p:sp>
        <p:nvSpPr>
          <p:cNvPr id="8" name="TextBox 7"/>
          <p:cNvSpPr txBox="1"/>
          <p:nvPr/>
        </p:nvSpPr>
        <p:spPr>
          <a:xfrm>
            <a:off x="960120" y="2697480"/>
            <a:ext cx="2057400" cy="365760"/>
          </a:xfrm>
          <a:prstGeom prst="rect">
            <a:avLst/>
          </a:prstGeom>
          <a:noFill/>
        </p:spPr>
        <p:txBody>
          <a:bodyPr wrap="square" anchor="t">
            <a:spAutoFit/>
          </a:bodyPr>
          <a:lstStyle/>
          <a:p>
            <a:pPr algn="l">
              <a:defRPr sz="1900" b="1">
                <a:solidFill>
                  <a:srgbClr val="082349"/>
                </a:solidFill>
                <a:latin typeface="Aptos"/>
              </a:defRPr>
            </a:pPr>
            <a:r>
              <a:t>Stabilize</a:t>
            </a:r>
          </a:p>
        </p:txBody>
      </p:sp>
      <p:sp>
        <p:nvSpPr>
          <p:cNvPr id="9" name="TextBox 8"/>
          <p:cNvSpPr txBox="1"/>
          <p:nvPr/>
        </p:nvSpPr>
        <p:spPr>
          <a:xfrm>
            <a:off x="960120" y="3429000"/>
            <a:ext cx="2057400" cy="1005840"/>
          </a:xfrm>
          <a:prstGeom prst="rect">
            <a:avLst/>
          </a:prstGeom>
          <a:noFill/>
        </p:spPr>
        <p:txBody>
          <a:bodyPr wrap="square" anchor="t">
            <a:spAutoFit/>
          </a:bodyPr>
          <a:lstStyle/>
          <a:p>
            <a:pPr algn="ctr">
              <a:defRPr sz="1500" b="0">
                <a:solidFill>
                  <a:srgbClr val="596B81"/>
                </a:solidFill>
                <a:latin typeface="Aptos"/>
              </a:defRPr>
            </a:pPr>
            <a:r>
              <a:t>Mở pilot</a:t>
            </a:r>
            <a:br/>
            <a:r>
              <a:t>Thu feedback</a:t>
            </a:r>
            <a:br/>
            <a:r>
              <a:t>Theo dõi lỗi</a:t>
            </a:r>
          </a:p>
        </p:txBody>
      </p:sp>
      <p:sp>
        <p:nvSpPr>
          <p:cNvPr id="10" name="Rounded Rectangle 9"/>
          <p:cNvSpPr/>
          <p:nvPr/>
        </p:nvSpPr>
        <p:spPr>
          <a:xfrm>
            <a:off x="3593592" y="1828800"/>
            <a:ext cx="2450592" cy="333756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93592" y="1828800"/>
            <a:ext cx="2450592" cy="146304"/>
          </a:xfrm>
          <a:prstGeom prst="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2212848"/>
            <a:ext cx="2057400" cy="274320"/>
          </a:xfrm>
          <a:prstGeom prst="rect">
            <a:avLst/>
          </a:prstGeom>
          <a:noFill/>
        </p:spPr>
        <p:txBody>
          <a:bodyPr wrap="square" anchor="t">
            <a:spAutoFit/>
          </a:bodyPr>
          <a:lstStyle/>
          <a:p>
            <a:pPr algn="l">
              <a:defRPr sz="1200" b="1">
                <a:solidFill>
                  <a:srgbClr val="085C94"/>
                </a:solidFill>
                <a:latin typeface="Aptos"/>
              </a:defRPr>
            </a:pPr>
            <a:r>
              <a:t>+2W</a:t>
            </a:r>
          </a:p>
        </p:txBody>
      </p:sp>
      <p:sp>
        <p:nvSpPr>
          <p:cNvPr id="13" name="TextBox 12"/>
          <p:cNvSpPr txBox="1"/>
          <p:nvPr/>
        </p:nvSpPr>
        <p:spPr>
          <a:xfrm>
            <a:off x="3776472" y="2697480"/>
            <a:ext cx="2057400" cy="365760"/>
          </a:xfrm>
          <a:prstGeom prst="rect">
            <a:avLst/>
          </a:prstGeom>
          <a:noFill/>
        </p:spPr>
        <p:txBody>
          <a:bodyPr wrap="square" anchor="t">
            <a:spAutoFit/>
          </a:bodyPr>
          <a:lstStyle/>
          <a:p>
            <a:pPr algn="l">
              <a:defRPr sz="1900" b="1">
                <a:solidFill>
                  <a:srgbClr val="082349"/>
                </a:solidFill>
                <a:latin typeface="Aptos"/>
              </a:defRPr>
            </a:pPr>
            <a:r>
              <a:t>Measure</a:t>
            </a:r>
          </a:p>
        </p:txBody>
      </p:sp>
      <p:sp>
        <p:nvSpPr>
          <p:cNvPr id="14" name="TextBox 13"/>
          <p:cNvSpPr txBox="1"/>
          <p:nvPr/>
        </p:nvSpPr>
        <p:spPr>
          <a:xfrm>
            <a:off x="3776472" y="3429000"/>
            <a:ext cx="2057400" cy="1005840"/>
          </a:xfrm>
          <a:prstGeom prst="rect">
            <a:avLst/>
          </a:prstGeom>
          <a:noFill/>
        </p:spPr>
        <p:txBody>
          <a:bodyPr wrap="square" anchor="t">
            <a:spAutoFit/>
          </a:bodyPr>
          <a:lstStyle/>
          <a:p>
            <a:pPr algn="ctr">
              <a:defRPr sz="1500" b="0">
                <a:solidFill>
                  <a:srgbClr val="596B81"/>
                </a:solidFill>
                <a:latin typeface="Aptos"/>
              </a:defRPr>
            </a:pPr>
            <a:r>
              <a:t>Golden set</a:t>
            </a:r>
            <a:br/>
            <a:r>
              <a:t>Latency/cost</a:t>
            </a:r>
            <a:br/>
            <a:r>
              <a:t>Answer rating</a:t>
            </a:r>
          </a:p>
        </p:txBody>
      </p:sp>
      <p:sp>
        <p:nvSpPr>
          <p:cNvPr id="15" name="Rounded Rectangle 14"/>
          <p:cNvSpPr/>
          <p:nvPr/>
        </p:nvSpPr>
        <p:spPr>
          <a:xfrm>
            <a:off x="6409944" y="1828800"/>
            <a:ext cx="2450592" cy="333756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9944" y="1828800"/>
            <a:ext cx="2450592" cy="146304"/>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2212848"/>
            <a:ext cx="2057400" cy="274320"/>
          </a:xfrm>
          <a:prstGeom prst="rect">
            <a:avLst/>
          </a:prstGeom>
          <a:noFill/>
        </p:spPr>
        <p:txBody>
          <a:bodyPr wrap="square" anchor="t">
            <a:spAutoFit/>
          </a:bodyPr>
          <a:lstStyle/>
          <a:p>
            <a:pPr algn="l">
              <a:defRPr sz="1200" b="1">
                <a:solidFill>
                  <a:srgbClr val="E5A923"/>
                </a:solidFill>
                <a:latin typeface="Aptos"/>
              </a:defRPr>
            </a:pPr>
            <a:r>
              <a:t>+4W</a:t>
            </a:r>
          </a:p>
        </p:txBody>
      </p:sp>
      <p:sp>
        <p:nvSpPr>
          <p:cNvPr id="18" name="TextBox 17"/>
          <p:cNvSpPr txBox="1"/>
          <p:nvPr/>
        </p:nvSpPr>
        <p:spPr>
          <a:xfrm>
            <a:off x="6592824" y="2697480"/>
            <a:ext cx="2057400" cy="365760"/>
          </a:xfrm>
          <a:prstGeom prst="rect">
            <a:avLst/>
          </a:prstGeom>
          <a:noFill/>
        </p:spPr>
        <p:txBody>
          <a:bodyPr wrap="square" anchor="t">
            <a:spAutoFit/>
          </a:bodyPr>
          <a:lstStyle/>
          <a:p>
            <a:pPr algn="l">
              <a:defRPr sz="1900" b="1">
                <a:solidFill>
                  <a:srgbClr val="082349"/>
                </a:solidFill>
                <a:latin typeface="Aptos"/>
              </a:defRPr>
            </a:pPr>
            <a:r>
              <a:t>Govern</a:t>
            </a:r>
          </a:p>
        </p:txBody>
      </p:sp>
      <p:sp>
        <p:nvSpPr>
          <p:cNvPr id="19" name="TextBox 18"/>
          <p:cNvSpPr txBox="1"/>
          <p:nvPr/>
        </p:nvSpPr>
        <p:spPr>
          <a:xfrm>
            <a:off x="6592824" y="3429000"/>
            <a:ext cx="2057400" cy="1005840"/>
          </a:xfrm>
          <a:prstGeom prst="rect">
            <a:avLst/>
          </a:prstGeom>
          <a:noFill/>
        </p:spPr>
        <p:txBody>
          <a:bodyPr wrap="square" anchor="t">
            <a:spAutoFit/>
          </a:bodyPr>
          <a:lstStyle/>
          <a:p>
            <a:pPr algn="ctr">
              <a:defRPr sz="1500" b="0">
                <a:solidFill>
                  <a:srgbClr val="596B81"/>
                </a:solidFill>
                <a:latin typeface="Aptos"/>
              </a:defRPr>
            </a:pPr>
            <a:r>
              <a:t>Version policy</a:t>
            </a:r>
            <a:br/>
            <a:r>
              <a:t>Approval flow</a:t>
            </a:r>
            <a:br/>
            <a:r>
              <a:t>Audit dashboard</a:t>
            </a:r>
          </a:p>
        </p:txBody>
      </p:sp>
      <p:sp>
        <p:nvSpPr>
          <p:cNvPr id="20" name="Rounded Rectangle 19"/>
          <p:cNvSpPr/>
          <p:nvPr/>
        </p:nvSpPr>
        <p:spPr>
          <a:xfrm>
            <a:off x="9226296" y="1828800"/>
            <a:ext cx="2450592" cy="333756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26296" y="1828800"/>
            <a:ext cx="2450592" cy="146304"/>
          </a:xfrm>
          <a:prstGeom prst="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9176" y="2212848"/>
            <a:ext cx="2057400" cy="274320"/>
          </a:xfrm>
          <a:prstGeom prst="rect">
            <a:avLst/>
          </a:prstGeom>
          <a:noFill/>
        </p:spPr>
        <p:txBody>
          <a:bodyPr wrap="square" anchor="t">
            <a:spAutoFit/>
          </a:bodyPr>
          <a:lstStyle/>
          <a:p>
            <a:pPr algn="l">
              <a:defRPr sz="1200" b="1">
                <a:solidFill>
                  <a:srgbClr val="082349"/>
                </a:solidFill>
                <a:latin typeface="Aptos"/>
              </a:defRPr>
            </a:pPr>
            <a:r>
              <a:t>+6W</a:t>
            </a:r>
          </a:p>
        </p:txBody>
      </p:sp>
      <p:sp>
        <p:nvSpPr>
          <p:cNvPr id="23" name="TextBox 22"/>
          <p:cNvSpPr txBox="1"/>
          <p:nvPr/>
        </p:nvSpPr>
        <p:spPr>
          <a:xfrm>
            <a:off x="9409176" y="2697480"/>
            <a:ext cx="2057400" cy="365760"/>
          </a:xfrm>
          <a:prstGeom prst="rect">
            <a:avLst/>
          </a:prstGeom>
          <a:noFill/>
        </p:spPr>
        <p:txBody>
          <a:bodyPr wrap="square" anchor="t">
            <a:spAutoFit/>
          </a:bodyPr>
          <a:lstStyle/>
          <a:p>
            <a:pPr algn="l">
              <a:defRPr sz="1900" b="1">
                <a:solidFill>
                  <a:srgbClr val="082349"/>
                </a:solidFill>
                <a:latin typeface="Aptos"/>
              </a:defRPr>
            </a:pPr>
            <a:r>
              <a:t>Integrate</a:t>
            </a:r>
          </a:p>
        </p:txBody>
      </p:sp>
      <p:sp>
        <p:nvSpPr>
          <p:cNvPr id="24" name="TextBox 23"/>
          <p:cNvSpPr txBox="1"/>
          <p:nvPr/>
        </p:nvSpPr>
        <p:spPr>
          <a:xfrm>
            <a:off x="9409176" y="3429000"/>
            <a:ext cx="2057400" cy="1005840"/>
          </a:xfrm>
          <a:prstGeom prst="rect">
            <a:avLst/>
          </a:prstGeom>
          <a:noFill/>
        </p:spPr>
        <p:txBody>
          <a:bodyPr wrap="square" anchor="t">
            <a:spAutoFit/>
          </a:bodyPr>
          <a:lstStyle/>
          <a:p>
            <a:pPr algn="ctr">
              <a:defRPr sz="1500" b="0">
                <a:solidFill>
                  <a:srgbClr val="596B81"/>
                </a:solidFill>
                <a:latin typeface="Aptos"/>
              </a:defRPr>
            </a:pPr>
            <a:r>
              <a:t>SSO</a:t>
            </a:r>
            <a:br/>
            <a:r>
              <a:t>HRM API</a:t>
            </a:r>
            <a:br/>
            <a:r>
              <a:t>SharePoint sync</a:t>
            </a:r>
          </a:p>
        </p:txBody>
      </p:sp>
      <p:sp>
        <p:nvSpPr>
          <p:cNvPr id="25" name="TextBox 24"/>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26" name="TextBox 25"/>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ENGINEERING DECISIONS</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Technique đã chọn: vì sao chọn và đánh đổi gì?</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881360" cy="594360"/>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2103120" cy="274320"/>
          </a:xfrm>
          <a:prstGeom prst="rect">
            <a:avLst/>
          </a:prstGeom>
          <a:noFill/>
        </p:spPr>
        <p:txBody>
          <a:bodyPr wrap="square" anchor="t">
            <a:spAutoFit/>
          </a:bodyPr>
          <a:lstStyle/>
          <a:p>
            <a:pPr algn="l">
              <a:defRPr sz="1200" b="1">
                <a:solidFill>
                  <a:srgbClr val="FFFFFF"/>
                </a:solidFill>
                <a:latin typeface="Aptos"/>
              </a:defRPr>
            </a:pPr>
            <a:r>
              <a:t>Technique</a:t>
            </a:r>
          </a:p>
        </p:txBody>
      </p:sp>
      <p:sp>
        <p:nvSpPr>
          <p:cNvPr id="7" name="TextBox 6"/>
          <p:cNvSpPr txBox="1"/>
          <p:nvPr/>
        </p:nvSpPr>
        <p:spPr>
          <a:xfrm>
            <a:off x="2880360" y="1508760"/>
            <a:ext cx="3931920" cy="274320"/>
          </a:xfrm>
          <a:prstGeom prst="rect">
            <a:avLst/>
          </a:prstGeom>
          <a:noFill/>
        </p:spPr>
        <p:txBody>
          <a:bodyPr wrap="square" anchor="t">
            <a:spAutoFit/>
          </a:bodyPr>
          <a:lstStyle/>
          <a:p>
            <a:pPr algn="l">
              <a:defRPr sz="1200" b="1">
                <a:solidFill>
                  <a:srgbClr val="FFFFFF"/>
                </a:solidFill>
                <a:latin typeface="Aptos"/>
              </a:defRPr>
            </a:pPr>
            <a:r>
              <a:t>Ưu điểm / lý do chọn</a:t>
            </a:r>
          </a:p>
        </p:txBody>
      </p:sp>
      <p:sp>
        <p:nvSpPr>
          <p:cNvPr id="8" name="TextBox 7"/>
          <p:cNvSpPr txBox="1"/>
          <p:nvPr/>
        </p:nvSpPr>
        <p:spPr>
          <a:xfrm>
            <a:off x="6995160" y="1508760"/>
            <a:ext cx="4389120" cy="274320"/>
          </a:xfrm>
          <a:prstGeom prst="rect">
            <a:avLst/>
          </a:prstGeom>
          <a:noFill/>
        </p:spPr>
        <p:txBody>
          <a:bodyPr wrap="square" anchor="t">
            <a:spAutoFit/>
          </a:bodyPr>
          <a:lstStyle/>
          <a:p>
            <a:pPr algn="l">
              <a:defRPr sz="1200" b="1">
                <a:solidFill>
                  <a:srgbClr val="FFFFFF"/>
                </a:solidFill>
                <a:latin typeface="Aptos"/>
              </a:defRPr>
            </a:pPr>
            <a:r>
              <a:t>Nhược điểm / cách kiểm soát</a:t>
            </a:r>
          </a:p>
        </p:txBody>
      </p:sp>
      <p:sp>
        <p:nvSpPr>
          <p:cNvPr id="9" name="Rectangle 8"/>
          <p:cNvSpPr/>
          <p:nvPr/>
        </p:nvSpPr>
        <p:spPr>
          <a:xfrm>
            <a:off x="640080" y="1984248"/>
            <a:ext cx="10881360" cy="594360"/>
          </a:xfrm>
          <a:prstGeom prst="rect">
            <a:avLst/>
          </a:prstGeom>
          <a:solidFill>
            <a:srgbClr val="F0F7FC"/>
          </a:solidFill>
          <a:ln>
            <a:solidFill>
              <a:srgbClr val="F0F7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57400"/>
            <a:ext cx="1965960" cy="384048"/>
          </a:xfrm>
          <a:prstGeom prst="rect">
            <a:avLst/>
          </a:prstGeom>
          <a:noFill/>
        </p:spPr>
        <p:txBody>
          <a:bodyPr wrap="square" anchor="t">
            <a:spAutoFit/>
          </a:bodyPr>
          <a:lstStyle/>
          <a:p>
            <a:pPr algn="l">
              <a:defRPr sz="1300" b="1">
                <a:solidFill>
                  <a:srgbClr val="085C94"/>
                </a:solidFill>
                <a:latin typeface="Aptos"/>
              </a:defRPr>
            </a:pPr>
            <a:r>
              <a:t>Gemini 2.5 Flash</a:t>
            </a:r>
          </a:p>
        </p:txBody>
      </p:sp>
      <p:sp>
        <p:nvSpPr>
          <p:cNvPr id="11" name="TextBox 10"/>
          <p:cNvSpPr txBox="1"/>
          <p:nvPr/>
        </p:nvSpPr>
        <p:spPr>
          <a:xfrm>
            <a:off x="2880360" y="2057400"/>
            <a:ext cx="3886200" cy="438912"/>
          </a:xfrm>
          <a:prstGeom prst="rect">
            <a:avLst/>
          </a:prstGeom>
          <a:noFill/>
        </p:spPr>
        <p:txBody>
          <a:bodyPr wrap="square" anchor="t">
            <a:spAutoFit/>
          </a:bodyPr>
          <a:lstStyle/>
          <a:p>
            <a:pPr algn="l">
              <a:defRPr sz="1200" b="0">
                <a:solidFill>
                  <a:srgbClr val="141F30"/>
                </a:solidFill>
                <a:latin typeface="Aptos"/>
              </a:defRPr>
            </a:pPr>
            <a:r>
              <a:t>Nhanh, tiếng Việt tốt, chi phí phù hợp demo</a:t>
            </a:r>
          </a:p>
        </p:txBody>
      </p:sp>
      <p:sp>
        <p:nvSpPr>
          <p:cNvPr id="12" name="TextBox 11"/>
          <p:cNvSpPr txBox="1"/>
          <p:nvPr/>
        </p:nvSpPr>
        <p:spPr>
          <a:xfrm>
            <a:off x="6995160" y="2057400"/>
            <a:ext cx="4251960" cy="438912"/>
          </a:xfrm>
          <a:prstGeom prst="rect">
            <a:avLst/>
          </a:prstGeom>
          <a:noFill/>
        </p:spPr>
        <p:txBody>
          <a:bodyPr wrap="square" anchor="t">
            <a:spAutoFit/>
          </a:bodyPr>
          <a:lstStyle/>
          <a:p>
            <a:pPr algn="l">
              <a:defRPr sz="1200" b="0">
                <a:solidFill>
                  <a:srgbClr val="596B81"/>
                </a:solidFill>
                <a:latin typeface="Aptos"/>
              </a:defRPr>
            </a:pPr>
            <a:r>
              <a:t>Phụ thuộc mạng/provider; cần fallback</a:t>
            </a:r>
          </a:p>
        </p:txBody>
      </p:sp>
      <p:sp>
        <p:nvSpPr>
          <p:cNvPr id="13" name="TextBox 12"/>
          <p:cNvSpPr txBox="1"/>
          <p:nvPr/>
        </p:nvSpPr>
        <p:spPr>
          <a:xfrm>
            <a:off x="777240" y="2697480"/>
            <a:ext cx="1965960" cy="384048"/>
          </a:xfrm>
          <a:prstGeom prst="rect">
            <a:avLst/>
          </a:prstGeom>
          <a:noFill/>
        </p:spPr>
        <p:txBody>
          <a:bodyPr wrap="square" anchor="t">
            <a:spAutoFit/>
          </a:bodyPr>
          <a:lstStyle/>
          <a:p>
            <a:pPr algn="l">
              <a:defRPr sz="1300" b="1">
                <a:solidFill>
                  <a:srgbClr val="085C94"/>
                </a:solidFill>
                <a:latin typeface="Aptos"/>
              </a:defRPr>
            </a:pPr>
            <a:r>
              <a:t>Dense + BM25</a:t>
            </a:r>
          </a:p>
        </p:txBody>
      </p:sp>
      <p:sp>
        <p:nvSpPr>
          <p:cNvPr id="14" name="TextBox 13"/>
          <p:cNvSpPr txBox="1"/>
          <p:nvPr/>
        </p:nvSpPr>
        <p:spPr>
          <a:xfrm>
            <a:off x="2880360" y="2697480"/>
            <a:ext cx="3886200" cy="438912"/>
          </a:xfrm>
          <a:prstGeom prst="rect">
            <a:avLst/>
          </a:prstGeom>
          <a:noFill/>
        </p:spPr>
        <p:txBody>
          <a:bodyPr wrap="square" anchor="t">
            <a:spAutoFit/>
          </a:bodyPr>
          <a:lstStyle/>
          <a:p>
            <a:pPr algn="l">
              <a:defRPr sz="1200" b="0">
                <a:solidFill>
                  <a:srgbClr val="141F30"/>
                </a:solidFill>
                <a:latin typeface="Aptos"/>
              </a:defRPr>
            </a:pPr>
            <a:r>
              <a:t>Bắt được cả ngữ nghĩa và từ khóa/mã chính sách</a:t>
            </a:r>
          </a:p>
        </p:txBody>
      </p:sp>
      <p:sp>
        <p:nvSpPr>
          <p:cNvPr id="15" name="TextBox 14"/>
          <p:cNvSpPr txBox="1"/>
          <p:nvPr/>
        </p:nvSpPr>
        <p:spPr>
          <a:xfrm>
            <a:off x="6995160" y="2697480"/>
            <a:ext cx="4251960" cy="438912"/>
          </a:xfrm>
          <a:prstGeom prst="rect">
            <a:avLst/>
          </a:prstGeom>
          <a:noFill/>
        </p:spPr>
        <p:txBody>
          <a:bodyPr wrap="square" anchor="t">
            <a:spAutoFit/>
          </a:bodyPr>
          <a:lstStyle/>
          <a:p>
            <a:pPr algn="l">
              <a:defRPr sz="1200" b="0">
                <a:solidFill>
                  <a:srgbClr val="596B81"/>
                </a:solidFill>
                <a:latin typeface="Aptos"/>
              </a:defRPr>
            </a:pPr>
            <a:r>
              <a:t>Pipeline phức tạp hơn, phải tune score</a:t>
            </a:r>
          </a:p>
        </p:txBody>
      </p:sp>
      <p:sp>
        <p:nvSpPr>
          <p:cNvPr id="16" name="Rectangle 15"/>
          <p:cNvSpPr/>
          <p:nvPr/>
        </p:nvSpPr>
        <p:spPr>
          <a:xfrm>
            <a:off x="640080" y="3264408"/>
            <a:ext cx="10881360" cy="594360"/>
          </a:xfrm>
          <a:prstGeom prst="rect">
            <a:avLst/>
          </a:prstGeom>
          <a:solidFill>
            <a:srgbClr val="F0F7FC"/>
          </a:solidFill>
          <a:ln>
            <a:solidFill>
              <a:srgbClr val="F0F7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37560"/>
            <a:ext cx="1965960" cy="384048"/>
          </a:xfrm>
          <a:prstGeom prst="rect">
            <a:avLst/>
          </a:prstGeom>
          <a:noFill/>
        </p:spPr>
        <p:txBody>
          <a:bodyPr wrap="square" anchor="t">
            <a:spAutoFit/>
          </a:bodyPr>
          <a:lstStyle/>
          <a:p>
            <a:pPr algn="l">
              <a:defRPr sz="1300" b="1">
                <a:solidFill>
                  <a:srgbClr val="085C94"/>
                </a:solidFill>
                <a:latin typeface="Aptos"/>
              </a:defRPr>
            </a:pPr>
            <a:r>
              <a:t>Atomic chunks</a:t>
            </a:r>
          </a:p>
        </p:txBody>
      </p:sp>
      <p:sp>
        <p:nvSpPr>
          <p:cNvPr id="18" name="TextBox 17"/>
          <p:cNvSpPr txBox="1"/>
          <p:nvPr/>
        </p:nvSpPr>
        <p:spPr>
          <a:xfrm>
            <a:off x="2880360" y="3337560"/>
            <a:ext cx="3886200" cy="438912"/>
          </a:xfrm>
          <a:prstGeom prst="rect">
            <a:avLst/>
          </a:prstGeom>
          <a:noFill/>
        </p:spPr>
        <p:txBody>
          <a:bodyPr wrap="square" anchor="t">
            <a:spAutoFit/>
          </a:bodyPr>
          <a:lstStyle/>
          <a:p>
            <a:pPr algn="l">
              <a:defRPr sz="1200" b="0">
                <a:solidFill>
                  <a:srgbClr val="141F30"/>
                </a:solidFill>
                <a:latin typeface="Aptos"/>
              </a:defRPr>
            </a:pPr>
            <a:r>
              <a:t>Context ít nhiễu, bám sát điều khoản</a:t>
            </a:r>
          </a:p>
        </p:txBody>
      </p:sp>
      <p:sp>
        <p:nvSpPr>
          <p:cNvPr id="19" name="TextBox 18"/>
          <p:cNvSpPr txBox="1"/>
          <p:nvPr/>
        </p:nvSpPr>
        <p:spPr>
          <a:xfrm>
            <a:off x="6995160" y="3337560"/>
            <a:ext cx="4251960" cy="438912"/>
          </a:xfrm>
          <a:prstGeom prst="rect">
            <a:avLst/>
          </a:prstGeom>
          <a:noFill/>
        </p:spPr>
        <p:txBody>
          <a:bodyPr wrap="square" anchor="t">
            <a:spAutoFit/>
          </a:bodyPr>
          <a:lstStyle/>
          <a:p>
            <a:pPr algn="l">
              <a:defRPr sz="1200" b="0">
                <a:solidFill>
                  <a:srgbClr val="596B81"/>
                </a:solidFill>
                <a:latin typeface="Aptos"/>
              </a:defRPr>
            </a:pPr>
            <a:r>
              <a:t>Có thể mất ngữ cảnh; bù bằng heading + overlap</a:t>
            </a:r>
          </a:p>
        </p:txBody>
      </p:sp>
      <p:sp>
        <p:nvSpPr>
          <p:cNvPr id="20" name="TextBox 19"/>
          <p:cNvSpPr txBox="1"/>
          <p:nvPr/>
        </p:nvSpPr>
        <p:spPr>
          <a:xfrm>
            <a:off x="777240" y="3977639"/>
            <a:ext cx="1965960" cy="384048"/>
          </a:xfrm>
          <a:prstGeom prst="rect">
            <a:avLst/>
          </a:prstGeom>
          <a:noFill/>
        </p:spPr>
        <p:txBody>
          <a:bodyPr wrap="square" anchor="t">
            <a:spAutoFit/>
          </a:bodyPr>
          <a:lstStyle/>
          <a:p>
            <a:pPr algn="l">
              <a:defRPr sz="1300" b="1">
                <a:solidFill>
                  <a:srgbClr val="085C94"/>
                </a:solidFill>
                <a:latin typeface="Aptos"/>
              </a:defRPr>
            </a:pPr>
            <a:r>
              <a:t>RRF + rerank</a:t>
            </a:r>
          </a:p>
        </p:txBody>
      </p:sp>
      <p:sp>
        <p:nvSpPr>
          <p:cNvPr id="21" name="TextBox 20"/>
          <p:cNvSpPr txBox="1"/>
          <p:nvPr/>
        </p:nvSpPr>
        <p:spPr>
          <a:xfrm>
            <a:off x="2880360" y="3977639"/>
            <a:ext cx="3886200" cy="438912"/>
          </a:xfrm>
          <a:prstGeom prst="rect">
            <a:avLst/>
          </a:prstGeom>
          <a:noFill/>
        </p:spPr>
        <p:txBody>
          <a:bodyPr wrap="square" anchor="t">
            <a:spAutoFit/>
          </a:bodyPr>
          <a:lstStyle/>
          <a:p>
            <a:pPr algn="l">
              <a:defRPr sz="1200" b="0">
                <a:solidFill>
                  <a:srgbClr val="141F30"/>
                </a:solidFill>
                <a:latin typeface="Aptos"/>
              </a:defRPr>
            </a:pPr>
            <a:r>
              <a:t>Hợp nhất hai ranking, tăng precision top-k</a:t>
            </a:r>
          </a:p>
        </p:txBody>
      </p:sp>
      <p:sp>
        <p:nvSpPr>
          <p:cNvPr id="22" name="TextBox 21"/>
          <p:cNvSpPr txBox="1"/>
          <p:nvPr/>
        </p:nvSpPr>
        <p:spPr>
          <a:xfrm>
            <a:off x="6995160" y="3977639"/>
            <a:ext cx="4251960" cy="438912"/>
          </a:xfrm>
          <a:prstGeom prst="rect">
            <a:avLst/>
          </a:prstGeom>
          <a:noFill/>
        </p:spPr>
        <p:txBody>
          <a:bodyPr wrap="square" anchor="t">
            <a:spAutoFit/>
          </a:bodyPr>
          <a:lstStyle/>
          <a:p>
            <a:pPr algn="l">
              <a:defRPr sz="1200" b="0">
                <a:solidFill>
                  <a:srgbClr val="596B81"/>
                </a:solidFill>
                <a:latin typeface="Aptos"/>
              </a:defRPr>
            </a:pPr>
            <a:r>
              <a:t>Tăng latency và chi phí tính toán</a:t>
            </a:r>
          </a:p>
        </p:txBody>
      </p:sp>
      <p:sp>
        <p:nvSpPr>
          <p:cNvPr id="23" name="Rectangle 22"/>
          <p:cNvSpPr/>
          <p:nvPr/>
        </p:nvSpPr>
        <p:spPr>
          <a:xfrm>
            <a:off x="640080" y="4544568"/>
            <a:ext cx="10881360" cy="594360"/>
          </a:xfrm>
          <a:prstGeom prst="rect">
            <a:avLst/>
          </a:prstGeom>
          <a:solidFill>
            <a:srgbClr val="F0F7FC"/>
          </a:solidFill>
          <a:ln>
            <a:solidFill>
              <a:srgbClr val="F0F7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617720"/>
            <a:ext cx="1965960" cy="384048"/>
          </a:xfrm>
          <a:prstGeom prst="rect">
            <a:avLst/>
          </a:prstGeom>
          <a:noFill/>
        </p:spPr>
        <p:txBody>
          <a:bodyPr wrap="square" anchor="t">
            <a:spAutoFit/>
          </a:bodyPr>
          <a:lstStyle/>
          <a:p>
            <a:pPr algn="l">
              <a:defRPr sz="1300" b="1">
                <a:solidFill>
                  <a:srgbClr val="085C94"/>
                </a:solidFill>
                <a:latin typeface="Aptos"/>
              </a:defRPr>
            </a:pPr>
            <a:r>
              <a:t>LangGraph</a:t>
            </a:r>
          </a:p>
        </p:txBody>
      </p:sp>
      <p:sp>
        <p:nvSpPr>
          <p:cNvPr id="25" name="TextBox 24"/>
          <p:cNvSpPr txBox="1"/>
          <p:nvPr/>
        </p:nvSpPr>
        <p:spPr>
          <a:xfrm>
            <a:off x="2880360" y="4617720"/>
            <a:ext cx="3886200" cy="438912"/>
          </a:xfrm>
          <a:prstGeom prst="rect">
            <a:avLst/>
          </a:prstGeom>
          <a:noFill/>
        </p:spPr>
        <p:txBody>
          <a:bodyPr wrap="square" anchor="t">
            <a:spAutoFit/>
          </a:bodyPr>
          <a:lstStyle/>
          <a:p>
            <a:pPr algn="l">
              <a:defRPr sz="1200" b="0">
                <a:solidFill>
                  <a:srgbClr val="141F30"/>
                </a:solidFill>
                <a:latin typeface="Aptos"/>
              </a:defRPr>
            </a:pPr>
            <a:r>
              <a:t>Luồng allow/clarify/block rõ, dễ kiểm soát</a:t>
            </a:r>
          </a:p>
        </p:txBody>
      </p:sp>
      <p:sp>
        <p:nvSpPr>
          <p:cNvPr id="26" name="TextBox 25"/>
          <p:cNvSpPr txBox="1"/>
          <p:nvPr/>
        </p:nvSpPr>
        <p:spPr>
          <a:xfrm>
            <a:off x="6995160" y="4617720"/>
            <a:ext cx="4251960" cy="438912"/>
          </a:xfrm>
          <a:prstGeom prst="rect">
            <a:avLst/>
          </a:prstGeom>
          <a:noFill/>
        </p:spPr>
        <p:txBody>
          <a:bodyPr wrap="square" anchor="t">
            <a:spAutoFit/>
          </a:bodyPr>
          <a:lstStyle/>
          <a:p>
            <a:pPr algn="l">
              <a:defRPr sz="1200" b="0">
                <a:solidFill>
                  <a:srgbClr val="596B81"/>
                </a:solidFill>
                <a:latin typeface="Aptos"/>
              </a:defRPr>
            </a:pPr>
            <a:r>
              <a:t>Nhiều state/node hơn code tuyến tính</a:t>
            </a:r>
          </a:p>
        </p:txBody>
      </p:sp>
      <p:sp>
        <p:nvSpPr>
          <p:cNvPr id="27" name="TextBox 26"/>
          <p:cNvSpPr txBox="1"/>
          <p:nvPr/>
        </p:nvSpPr>
        <p:spPr>
          <a:xfrm>
            <a:off x="777240" y="5257800"/>
            <a:ext cx="1965960" cy="384048"/>
          </a:xfrm>
          <a:prstGeom prst="rect">
            <a:avLst/>
          </a:prstGeom>
          <a:noFill/>
        </p:spPr>
        <p:txBody>
          <a:bodyPr wrap="square" anchor="t">
            <a:spAutoFit/>
          </a:bodyPr>
          <a:lstStyle/>
          <a:p>
            <a:pPr algn="l">
              <a:defRPr sz="1300" b="1">
                <a:solidFill>
                  <a:srgbClr val="085C94"/>
                </a:solidFill>
                <a:latin typeface="Aptos"/>
              </a:defRPr>
            </a:pPr>
            <a:r>
              <a:t>Chroma local</a:t>
            </a:r>
          </a:p>
        </p:txBody>
      </p:sp>
      <p:sp>
        <p:nvSpPr>
          <p:cNvPr id="28" name="TextBox 27"/>
          <p:cNvSpPr txBox="1"/>
          <p:nvPr/>
        </p:nvSpPr>
        <p:spPr>
          <a:xfrm>
            <a:off x="2880360" y="5257800"/>
            <a:ext cx="3886200" cy="438912"/>
          </a:xfrm>
          <a:prstGeom prst="rect">
            <a:avLst/>
          </a:prstGeom>
          <a:noFill/>
        </p:spPr>
        <p:txBody>
          <a:bodyPr wrap="square" anchor="t">
            <a:spAutoFit/>
          </a:bodyPr>
          <a:lstStyle/>
          <a:p>
            <a:pPr algn="l">
              <a:defRPr sz="1200" b="0">
                <a:solidFill>
                  <a:srgbClr val="141F30"/>
                </a:solidFill>
                <a:latin typeface="Aptos"/>
              </a:defRPr>
            </a:pPr>
            <a:r>
              <a:t>Triển khai pilot nhanh, không cần hạ tầng riêng</a:t>
            </a:r>
          </a:p>
        </p:txBody>
      </p:sp>
      <p:sp>
        <p:nvSpPr>
          <p:cNvPr id="29" name="TextBox 28"/>
          <p:cNvSpPr txBox="1"/>
          <p:nvPr/>
        </p:nvSpPr>
        <p:spPr>
          <a:xfrm>
            <a:off x="6995160" y="5257800"/>
            <a:ext cx="4251960" cy="438912"/>
          </a:xfrm>
          <a:prstGeom prst="rect">
            <a:avLst/>
          </a:prstGeom>
          <a:noFill/>
        </p:spPr>
        <p:txBody>
          <a:bodyPr wrap="square" anchor="t">
            <a:spAutoFit/>
          </a:bodyPr>
          <a:lstStyle/>
          <a:p>
            <a:pPr algn="l">
              <a:defRPr sz="1200" b="0">
                <a:solidFill>
                  <a:srgbClr val="596B81"/>
                </a:solidFill>
                <a:latin typeface="Aptos"/>
              </a:defRPr>
            </a:pPr>
            <a:r>
              <a:t>Chưa tối ưu cho scale và HA lớn</a:t>
            </a:r>
          </a:p>
        </p:txBody>
      </p:sp>
      <p:sp>
        <p:nvSpPr>
          <p:cNvPr id="30" name="TextBox 29"/>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1" name="TextBox 30"/>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CODE WALKTHROUGH</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Đọc code theo luồng dữ liệu</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08760"/>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91639"/>
            <a:ext cx="2057400" cy="713232"/>
          </a:xfrm>
          <a:prstGeom prst="rect">
            <a:avLst/>
          </a:prstGeom>
          <a:noFill/>
        </p:spPr>
        <p:txBody>
          <a:bodyPr wrap="square" anchor="t">
            <a:spAutoFit/>
          </a:bodyPr>
          <a:lstStyle/>
          <a:p>
            <a:pPr algn="l">
              <a:defRPr sz="1200" b="1">
                <a:solidFill>
                  <a:srgbClr val="085C94"/>
                </a:solidFill>
                <a:latin typeface="Consolas"/>
              </a:defRPr>
            </a:pPr>
            <a:r>
              <a:t>frontend/src/components/</a:t>
            </a:r>
            <a:br/>
            <a:r>
              <a:t>HrPolicyChatPanel.jsx</a:t>
            </a:r>
          </a:p>
        </p:txBody>
      </p:sp>
      <p:sp>
        <p:nvSpPr>
          <p:cNvPr id="7" name="TextBox 6"/>
          <p:cNvSpPr txBox="1"/>
          <p:nvPr/>
        </p:nvSpPr>
        <p:spPr>
          <a:xfrm>
            <a:off x="3063239" y="1691639"/>
            <a:ext cx="2487168" cy="713232"/>
          </a:xfrm>
          <a:prstGeom prst="rect">
            <a:avLst/>
          </a:prstGeom>
          <a:noFill/>
        </p:spPr>
        <p:txBody>
          <a:bodyPr wrap="square" anchor="t">
            <a:spAutoFit/>
          </a:bodyPr>
          <a:lstStyle/>
          <a:p>
            <a:pPr algn="l">
              <a:defRPr sz="1200" b="0">
                <a:solidFill>
                  <a:srgbClr val="596B81"/>
                </a:solidFill>
                <a:latin typeface="Aptos"/>
              </a:defRPr>
            </a:pPr>
            <a:r>
              <a:t>State hội thoại, widget/full chat, leave intake, mobile UX</a:t>
            </a:r>
          </a:p>
        </p:txBody>
      </p:sp>
      <p:sp>
        <p:nvSpPr>
          <p:cNvPr id="8" name="Rounded Rectangle 7"/>
          <p:cNvSpPr/>
          <p:nvPr/>
        </p:nvSpPr>
        <p:spPr>
          <a:xfrm>
            <a:off x="6217920" y="1508760"/>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91639"/>
            <a:ext cx="2057400" cy="713232"/>
          </a:xfrm>
          <a:prstGeom prst="rect">
            <a:avLst/>
          </a:prstGeom>
          <a:noFill/>
        </p:spPr>
        <p:txBody>
          <a:bodyPr wrap="square" anchor="t">
            <a:spAutoFit/>
          </a:bodyPr>
          <a:lstStyle/>
          <a:p>
            <a:pPr algn="l">
              <a:defRPr sz="1200" b="1">
                <a:solidFill>
                  <a:srgbClr val="085C94"/>
                </a:solidFill>
                <a:latin typeface="Consolas"/>
              </a:defRPr>
            </a:pPr>
            <a:r>
              <a:t>backend/main.py</a:t>
            </a:r>
          </a:p>
        </p:txBody>
      </p:sp>
      <p:sp>
        <p:nvSpPr>
          <p:cNvPr id="10" name="TextBox 9"/>
          <p:cNvSpPr txBox="1"/>
          <p:nvPr/>
        </p:nvSpPr>
        <p:spPr>
          <a:xfrm>
            <a:off x="8549640" y="1691639"/>
            <a:ext cx="2487168" cy="713232"/>
          </a:xfrm>
          <a:prstGeom prst="rect">
            <a:avLst/>
          </a:prstGeom>
          <a:noFill/>
        </p:spPr>
        <p:txBody>
          <a:bodyPr wrap="square" anchor="t">
            <a:spAutoFit/>
          </a:bodyPr>
          <a:lstStyle/>
          <a:p>
            <a:pPr algn="l">
              <a:defRPr sz="1200" b="0">
                <a:solidFill>
                  <a:srgbClr val="596B81"/>
                </a:solidFill>
                <a:latin typeface="Aptos"/>
              </a:defRPr>
            </a:pPr>
            <a:r>
              <a:t>API contract, auth, query rewrite, chat history, handoff</a:t>
            </a:r>
          </a:p>
        </p:txBody>
      </p:sp>
      <p:sp>
        <p:nvSpPr>
          <p:cNvPr id="11" name="Rounded Rectangle 10"/>
          <p:cNvSpPr/>
          <p:nvPr/>
        </p:nvSpPr>
        <p:spPr>
          <a:xfrm>
            <a:off x="731520" y="3017520"/>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200400"/>
            <a:ext cx="2057400" cy="713232"/>
          </a:xfrm>
          <a:prstGeom prst="rect">
            <a:avLst/>
          </a:prstGeom>
          <a:noFill/>
        </p:spPr>
        <p:txBody>
          <a:bodyPr wrap="square" anchor="t">
            <a:spAutoFit/>
          </a:bodyPr>
          <a:lstStyle/>
          <a:p>
            <a:pPr algn="l">
              <a:defRPr sz="1200" b="1">
                <a:solidFill>
                  <a:srgbClr val="085C94"/>
                </a:solidFill>
                <a:latin typeface="Consolas"/>
              </a:defRPr>
            </a:pPr>
            <a:r>
              <a:t>src/hr_policy_graph.py</a:t>
            </a:r>
          </a:p>
        </p:txBody>
      </p:sp>
      <p:sp>
        <p:nvSpPr>
          <p:cNvPr id="13" name="TextBox 12"/>
          <p:cNvSpPr txBox="1"/>
          <p:nvPr/>
        </p:nvSpPr>
        <p:spPr>
          <a:xfrm>
            <a:off x="3063239" y="3200400"/>
            <a:ext cx="2487168" cy="713232"/>
          </a:xfrm>
          <a:prstGeom prst="rect">
            <a:avLst/>
          </a:prstGeom>
          <a:noFill/>
        </p:spPr>
        <p:txBody>
          <a:bodyPr wrap="square" anchor="t">
            <a:spAutoFit/>
          </a:bodyPr>
          <a:lstStyle/>
          <a:p>
            <a:pPr algn="l">
              <a:defRPr sz="1200" b="0">
                <a:solidFill>
                  <a:srgbClr val="596B81"/>
                </a:solidFill>
                <a:latin typeface="Aptos"/>
              </a:defRPr>
            </a:pPr>
            <a:r>
              <a:t>Orchestrate screen → retrieve → RBAC → validate → generate</a:t>
            </a:r>
          </a:p>
        </p:txBody>
      </p:sp>
      <p:sp>
        <p:nvSpPr>
          <p:cNvPr id="14" name="Rounded Rectangle 13"/>
          <p:cNvSpPr/>
          <p:nvPr/>
        </p:nvSpPr>
        <p:spPr>
          <a:xfrm>
            <a:off x="6217920" y="3017520"/>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200400"/>
            <a:ext cx="2057400" cy="713232"/>
          </a:xfrm>
          <a:prstGeom prst="rect">
            <a:avLst/>
          </a:prstGeom>
          <a:noFill/>
        </p:spPr>
        <p:txBody>
          <a:bodyPr wrap="square" anchor="t">
            <a:spAutoFit/>
          </a:bodyPr>
          <a:lstStyle/>
          <a:p>
            <a:pPr algn="l">
              <a:defRPr sz="1200" b="1">
                <a:solidFill>
                  <a:srgbClr val="085C94"/>
                </a:solidFill>
                <a:latin typeface="Consolas"/>
              </a:defRPr>
            </a:pPr>
            <a:r>
              <a:t>src/task4_chunking_indexing.py</a:t>
            </a:r>
          </a:p>
        </p:txBody>
      </p:sp>
      <p:sp>
        <p:nvSpPr>
          <p:cNvPr id="16" name="TextBox 15"/>
          <p:cNvSpPr txBox="1"/>
          <p:nvPr/>
        </p:nvSpPr>
        <p:spPr>
          <a:xfrm>
            <a:off x="8549640" y="3200400"/>
            <a:ext cx="2487168" cy="713232"/>
          </a:xfrm>
          <a:prstGeom prst="rect">
            <a:avLst/>
          </a:prstGeom>
          <a:noFill/>
        </p:spPr>
        <p:txBody>
          <a:bodyPr wrap="square" anchor="t">
            <a:spAutoFit/>
          </a:bodyPr>
          <a:lstStyle/>
          <a:p>
            <a:pPr algn="l">
              <a:defRPr sz="1200" b="0">
                <a:solidFill>
                  <a:srgbClr val="596B81"/>
                </a:solidFill>
                <a:latin typeface="Aptos"/>
              </a:defRPr>
            </a:pPr>
            <a:r>
              <a:t>Heading-aware chunking, embedding và Chroma index</a:t>
            </a:r>
          </a:p>
        </p:txBody>
      </p:sp>
      <p:sp>
        <p:nvSpPr>
          <p:cNvPr id="17" name="Rounded Rectangle 16"/>
          <p:cNvSpPr/>
          <p:nvPr/>
        </p:nvSpPr>
        <p:spPr>
          <a:xfrm>
            <a:off x="731520" y="4526279"/>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709159"/>
            <a:ext cx="2057400" cy="713232"/>
          </a:xfrm>
          <a:prstGeom prst="rect">
            <a:avLst/>
          </a:prstGeom>
          <a:noFill/>
        </p:spPr>
        <p:txBody>
          <a:bodyPr wrap="square" anchor="t">
            <a:spAutoFit/>
          </a:bodyPr>
          <a:lstStyle/>
          <a:p>
            <a:pPr algn="l">
              <a:defRPr sz="1200" b="1">
                <a:solidFill>
                  <a:srgbClr val="085C94"/>
                </a:solidFill>
                <a:latin typeface="Consolas"/>
              </a:defRPr>
            </a:pPr>
            <a:r>
              <a:t>src/task9_retrieval_pipeline.py</a:t>
            </a:r>
          </a:p>
        </p:txBody>
      </p:sp>
      <p:sp>
        <p:nvSpPr>
          <p:cNvPr id="19" name="TextBox 18"/>
          <p:cNvSpPr txBox="1"/>
          <p:nvPr/>
        </p:nvSpPr>
        <p:spPr>
          <a:xfrm>
            <a:off x="3063239" y="4709159"/>
            <a:ext cx="2487168" cy="713232"/>
          </a:xfrm>
          <a:prstGeom prst="rect">
            <a:avLst/>
          </a:prstGeom>
          <a:noFill/>
        </p:spPr>
        <p:txBody>
          <a:bodyPr wrap="square" anchor="t">
            <a:spAutoFit/>
          </a:bodyPr>
          <a:lstStyle/>
          <a:p>
            <a:pPr algn="l">
              <a:defRPr sz="1200" b="0">
                <a:solidFill>
                  <a:srgbClr val="596B81"/>
                </a:solidFill>
                <a:latin typeface="Aptos"/>
              </a:defRPr>
            </a:pPr>
            <a:r>
              <a:t>Dense + BM25 → RRF → rerank → fallback</a:t>
            </a:r>
          </a:p>
        </p:txBody>
      </p:sp>
      <p:sp>
        <p:nvSpPr>
          <p:cNvPr id="20" name="Rounded Rectangle 19"/>
          <p:cNvSpPr/>
          <p:nvPr/>
        </p:nvSpPr>
        <p:spPr>
          <a:xfrm>
            <a:off x="6217920" y="4526279"/>
            <a:ext cx="5074920" cy="1188720"/>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4709159"/>
            <a:ext cx="2057400" cy="713232"/>
          </a:xfrm>
          <a:prstGeom prst="rect">
            <a:avLst/>
          </a:prstGeom>
          <a:noFill/>
        </p:spPr>
        <p:txBody>
          <a:bodyPr wrap="square" anchor="t">
            <a:spAutoFit/>
          </a:bodyPr>
          <a:lstStyle/>
          <a:p>
            <a:pPr algn="l">
              <a:defRPr sz="1200" b="1">
                <a:solidFill>
                  <a:srgbClr val="085C94"/>
                </a:solidFill>
                <a:latin typeface="Consolas"/>
              </a:defRPr>
            </a:pPr>
            <a:r>
              <a:t>src/task10_generation.py</a:t>
            </a:r>
          </a:p>
        </p:txBody>
      </p:sp>
      <p:sp>
        <p:nvSpPr>
          <p:cNvPr id="22" name="TextBox 21"/>
          <p:cNvSpPr txBox="1"/>
          <p:nvPr/>
        </p:nvSpPr>
        <p:spPr>
          <a:xfrm>
            <a:off x="8549640" y="4709159"/>
            <a:ext cx="2487168" cy="713232"/>
          </a:xfrm>
          <a:prstGeom prst="rect">
            <a:avLst/>
          </a:prstGeom>
          <a:noFill/>
        </p:spPr>
        <p:txBody>
          <a:bodyPr wrap="square" anchor="t">
            <a:spAutoFit/>
          </a:bodyPr>
          <a:lstStyle/>
          <a:p>
            <a:pPr algn="l">
              <a:defRPr sz="1200" b="0">
                <a:solidFill>
                  <a:srgbClr val="596B81"/>
                </a:solidFill>
                <a:latin typeface="Aptos"/>
              </a:defRPr>
            </a:pPr>
            <a:r>
              <a:t>Prompt, intent, deterministic guardrail và fallback answer</a:t>
            </a:r>
          </a:p>
        </p:txBody>
      </p:sp>
      <p:sp>
        <p:nvSpPr>
          <p:cNvPr id="23" name="Rounded Rectangle 22"/>
          <p:cNvSpPr/>
          <p:nvPr/>
        </p:nvSpPr>
        <p:spPr>
          <a:xfrm>
            <a:off x="731520" y="5989320"/>
            <a:ext cx="10561320" cy="384048"/>
          </a:xfrm>
          <a:prstGeom prst="round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071616"/>
            <a:ext cx="10149840" cy="201168"/>
          </a:xfrm>
          <a:prstGeom prst="rect">
            <a:avLst/>
          </a:prstGeom>
          <a:noFill/>
        </p:spPr>
        <p:txBody>
          <a:bodyPr wrap="square" anchor="t">
            <a:spAutoFit/>
          </a:bodyPr>
          <a:lstStyle/>
          <a:p>
            <a:pPr algn="ctr">
              <a:defRPr sz="1100" b="1">
                <a:solidFill>
                  <a:srgbClr val="FFFFFF"/>
                </a:solidFill>
                <a:latin typeface="Aptos"/>
              </a:defRPr>
            </a:pPr>
            <a:r>
              <a:t>Cách debug: UI symptom → API response → graph step → retrieved chunks → generation rule</a:t>
            </a:r>
          </a:p>
        </p:txBody>
      </p:sp>
      <p:sp>
        <p:nvSpPr>
          <p:cNvPr id="25" name="TextBox 24"/>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26" name="TextBox 25"/>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TextBox 1"/>
          <p:cNvSpPr txBox="1"/>
          <p:nvPr/>
        </p:nvSpPr>
        <p:spPr>
          <a:xfrm>
            <a:off x="640080" y="347472"/>
            <a:ext cx="7772400" cy="274320"/>
          </a:xfrm>
          <a:prstGeom prst="rect">
            <a:avLst/>
          </a:prstGeom>
          <a:noFill/>
        </p:spPr>
        <p:txBody>
          <a:bodyPr wrap="square" anchor="t">
            <a:spAutoFit/>
          </a:bodyPr>
          <a:lstStyle/>
          <a:p>
            <a:pPr algn="l">
              <a:defRPr sz="1000" b="1">
                <a:solidFill>
                  <a:srgbClr val="0EA5E9"/>
                </a:solidFill>
                <a:latin typeface="Aptos"/>
              </a:defRPr>
            </a:pPr>
            <a:r>
              <a:t>HUMAN-IN-THE-LOOP ENGINEERING</a:t>
            </a:r>
          </a:p>
        </p:txBody>
      </p:sp>
      <p:sp>
        <p:nvSpPr>
          <p:cNvPr id="3" name="TextBox 2"/>
          <p:cNvSpPr txBox="1"/>
          <p:nvPr/>
        </p:nvSpPr>
        <p:spPr>
          <a:xfrm>
            <a:off x="640080" y="658368"/>
            <a:ext cx="10789920" cy="566928"/>
          </a:xfrm>
          <a:prstGeom prst="rect">
            <a:avLst/>
          </a:prstGeom>
          <a:noFill/>
        </p:spPr>
        <p:txBody>
          <a:bodyPr wrap="square" anchor="t">
            <a:spAutoFit/>
          </a:bodyPr>
          <a:lstStyle/>
          <a:p>
            <a:pPr algn="l">
              <a:defRPr sz="2700" b="1">
                <a:solidFill>
                  <a:srgbClr val="082349"/>
                </a:solidFill>
                <a:latin typeface="Aptos Display"/>
              </a:defRPr>
            </a:pPr>
            <a:r>
              <a:t>Kiểm soát và điều phối coding agent</a:t>
            </a:r>
          </a:p>
        </p:txBody>
      </p:sp>
      <p:sp>
        <p:nvSpPr>
          <p:cNvPr id="4" name="Rectangle 3"/>
          <p:cNvSpPr/>
          <p:nvPr/>
        </p:nvSpPr>
        <p:spPr>
          <a:xfrm>
            <a:off x="640080" y="1298448"/>
            <a:ext cx="685800" cy="50292"/>
          </a:xfrm>
          <a:prstGeom prst="rect">
            <a:avLst/>
          </a:prstGeom>
          <a:solidFill>
            <a:srgbClr val="E5A923"/>
          </a:solidFill>
          <a:ln>
            <a:solidFill>
              <a:srgbClr val="E5A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54480"/>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50392" y="1719072"/>
            <a:ext cx="475488" cy="475488"/>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819656"/>
            <a:ext cx="475488" cy="182880"/>
          </a:xfrm>
          <a:prstGeom prst="rect">
            <a:avLst/>
          </a:prstGeom>
          <a:noFill/>
        </p:spPr>
        <p:txBody>
          <a:bodyPr wrap="square" anchor="t">
            <a:spAutoFit/>
          </a:bodyPr>
          <a:lstStyle/>
          <a:p>
            <a:pPr algn="ctr">
              <a:defRPr sz="1100" b="1">
                <a:solidFill>
                  <a:srgbClr val="FFFFFF"/>
                </a:solidFill>
                <a:latin typeface="Aptos"/>
              </a:defRPr>
            </a:pPr>
            <a:r>
              <a:t>1</a:t>
            </a:r>
          </a:p>
        </p:txBody>
      </p:sp>
      <p:sp>
        <p:nvSpPr>
          <p:cNvPr id="8" name="TextBox 7"/>
          <p:cNvSpPr txBox="1"/>
          <p:nvPr/>
        </p:nvSpPr>
        <p:spPr>
          <a:xfrm>
            <a:off x="1463040" y="1737360"/>
            <a:ext cx="2331720" cy="320040"/>
          </a:xfrm>
          <a:prstGeom prst="rect">
            <a:avLst/>
          </a:prstGeom>
          <a:noFill/>
        </p:spPr>
        <p:txBody>
          <a:bodyPr wrap="square" anchor="t">
            <a:spAutoFit/>
          </a:bodyPr>
          <a:lstStyle/>
          <a:p>
            <a:pPr algn="l">
              <a:defRPr sz="1400" b="1">
                <a:solidFill>
                  <a:srgbClr val="082349"/>
                </a:solidFill>
                <a:latin typeface="Aptos"/>
              </a:defRPr>
            </a:pPr>
            <a:r>
              <a:t>Đặt acceptance criteria</a:t>
            </a:r>
          </a:p>
        </p:txBody>
      </p:sp>
      <p:sp>
        <p:nvSpPr>
          <p:cNvPr id="9" name="TextBox 8"/>
          <p:cNvSpPr txBox="1"/>
          <p:nvPr/>
        </p:nvSpPr>
        <p:spPr>
          <a:xfrm>
            <a:off x="1463040" y="2221991"/>
            <a:ext cx="2331720" cy="594360"/>
          </a:xfrm>
          <a:prstGeom prst="rect">
            <a:avLst/>
          </a:prstGeom>
          <a:noFill/>
        </p:spPr>
        <p:txBody>
          <a:bodyPr wrap="square" anchor="t">
            <a:spAutoFit/>
          </a:bodyPr>
          <a:lstStyle/>
          <a:p>
            <a:pPr algn="l">
              <a:defRPr sz="1200" b="0">
                <a:solidFill>
                  <a:srgbClr val="596B81"/>
                </a:solidFill>
                <a:latin typeface="Aptos"/>
              </a:defRPr>
            </a:pPr>
            <a:r>
              <a:t>Ví dụ: sửa đúng intent, không đụng chunking/RAG.</a:t>
            </a:r>
          </a:p>
        </p:txBody>
      </p:sp>
      <p:sp>
        <p:nvSpPr>
          <p:cNvPr id="10" name="Rounded Rectangle 9"/>
          <p:cNvSpPr/>
          <p:nvPr/>
        </p:nvSpPr>
        <p:spPr>
          <a:xfrm>
            <a:off x="4480560" y="1554480"/>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45152" y="1719072"/>
            <a:ext cx="475488" cy="475488"/>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819656"/>
            <a:ext cx="475488" cy="182880"/>
          </a:xfrm>
          <a:prstGeom prst="rect">
            <a:avLst/>
          </a:prstGeom>
          <a:noFill/>
        </p:spPr>
        <p:txBody>
          <a:bodyPr wrap="square" anchor="t">
            <a:spAutoFit/>
          </a:bodyPr>
          <a:lstStyle/>
          <a:p>
            <a:pPr algn="ctr">
              <a:defRPr sz="1100" b="1">
                <a:solidFill>
                  <a:srgbClr val="FFFFFF"/>
                </a:solidFill>
                <a:latin typeface="Aptos"/>
              </a:defRPr>
            </a:pPr>
            <a:r>
              <a:t>2</a:t>
            </a:r>
          </a:p>
        </p:txBody>
      </p:sp>
      <p:sp>
        <p:nvSpPr>
          <p:cNvPr id="13" name="TextBox 12"/>
          <p:cNvSpPr txBox="1"/>
          <p:nvPr/>
        </p:nvSpPr>
        <p:spPr>
          <a:xfrm>
            <a:off x="5257800" y="1737360"/>
            <a:ext cx="2331720" cy="320040"/>
          </a:xfrm>
          <a:prstGeom prst="rect">
            <a:avLst/>
          </a:prstGeom>
          <a:noFill/>
        </p:spPr>
        <p:txBody>
          <a:bodyPr wrap="square" anchor="t">
            <a:spAutoFit/>
          </a:bodyPr>
          <a:lstStyle/>
          <a:p>
            <a:pPr algn="l">
              <a:defRPr sz="1400" b="1">
                <a:solidFill>
                  <a:srgbClr val="082349"/>
                </a:solidFill>
                <a:latin typeface="Aptos"/>
              </a:defRPr>
            </a:pPr>
            <a:r>
              <a:t>Tái hiện lỗi</a:t>
            </a:r>
          </a:p>
        </p:txBody>
      </p:sp>
      <p:sp>
        <p:nvSpPr>
          <p:cNvPr id="14" name="TextBox 13"/>
          <p:cNvSpPr txBox="1"/>
          <p:nvPr/>
        </p:nvSpPr>
        <p:spPr>
          <a:xfrm>
            <a:off x="5257800" y="2221991"/>
            <a:ext cx="2331720" cy="594360"/>
          </a:xfrm>
          <a:prstGeom prst="rect">
            <a:avLst/>
          </a:prstGeom>
          <a:noFill/>
        </p:spPr>
        <p:txBody>
          <a:bodyPr wrap="square" anchor="t">
            <a:spAutoFit/>
          </a:bodyPr>
          <a:lstStyle/>
          <a:p>
            <a:pPr algn="l">
              <a:defRPr sz="1200" b="0">
                <a:solidFill>
                  <a:srgbClr val="596B81"/>
                </a:solidFill>
                <a:latin typeface="Aptos"/>
              </a:defRPr>
            </a:pPr>
            <a:r>
              <a:t>Browser/API test trước khi sửa; lưu output làm bằng chứng.</a:t>
            </a:r>
          </a:p>
        </p:txBody>
      </p:sp>
      <p:sp>
        <p:nvSpPr>
          <p:cNvPr id="15" name="Rounded Rectangle 14"/>
          <p:cNvSpPr/>
          <p:nvPr/>
        </p:nvSpPr>
        <p:spPr>
          <a:xfrm>
            <a:off x="8275320" y="1554480"/>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39912" y="1719072"/>
            <a:ext cx="475488" cy="475488"/>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2" y="1819656"/>
            <a:ext cx="475488" cy="182880"/>
          </a:xfrm>
          <a:prstGeom prst="rect">
            <a:avLst/>
          </a:prstGeom>
          <a:noFill/>
        </p:spPr>
        <p:txBody>
          <a:bodyPr wrap="square" anchor="t">
            <a:spAutoFit/>
          </a:bodyPr>
          <a:lstStyle/>
          <a:p>
            <a:pPr algn="ctr">
              <a:defRPr sz="1100" b="1">
                <a:solidFill>
                  <a:srgbClr val="FFFFFF"/>
                </a:solidFill>
                <a:latin typeface="Aptos"/>
              </a:defRPr>
            </a:pPr>
            <a:r>
              <a:t>3</a:t>
            </a:r>
          </a:p>
        </p:txBody>
      </p:sp>
      <p:sp>
        <p:nvSpPr>
          <p:cNvPr id="18" name="TextBox 17"/>
          <p:cNvSpPr txBox="1"/>
          <p:nvPr/>
        </p:nvSpPr>
        <p:spPr>
          <a:xfrm>
            <a:off x="9052560" y="1737360"/>
            <a:ext cx="2331720" cy="320040"/>
          </a:xfrm>
          <a:prstGeom prst="rect">
            <a:avLst/>
          </a:prstGeom>
          <a:noFill/>
        </p:spPr>
        <p:txBody>
          <a:bodyPr wrap="square" anchor="t">
            <a:spAutoFit/>
          </a:bodyPr>
          <a:lstStyle/>
          <a:p>
            <a:pPr algn="l">
              <a:defRPr sz="1400" b="1">
                <a:solidFill>
                  <a:srgbClr val="082349"/>
                </a:solidFill>
                <a:latin typeface="Aptos"/>
              </a:defRPr>
            </a:pPr>
            <a:r>
              <a:t>Khoanh module</a:t>
            </a:r>
          </a:p>
        </p:txBody>
      </p:sp>
      <p:sp>
        <p:nvSpPr>
          <p:cNvPr id="19" name="TextBox 18"/>
          <p:cNvSpPr txBox="1"/>
          <p:nvPr/>
        </p:nvSpPr>
        <p:spPr>
          <a:xfrm>
            <a:off x="9052560" y="2221991"/>
            <a:ext cx="2331720" cy="594360"/>
          </a:xfrm>
          <a:prstGeom prst="rect">
            <a:avLst/>
          </a:prstGeom>
          <a:noFill/>
        </p:spPr>
        <p:txBody>
          <a:bodyPr wrap="square" anchor="t">
            <a:spAutoFit/>
          </a:bodyPr>
          <a:lstStyle/>
          <a:p>
            <a:pPr algn="l">
              <a:defRPr sz="1200" b="0">
                <a:solidFill>
                  <a:srgbClr val="596B81"/>
                </a:solidFill>
                <a:latin typeface="Aptos"/>
              </a:defRPr>
            </a:pPr>
            <a:r>
              <a:t>Đọc call flow và xác định owner của lỗi.</a:t>
            </a:r>
          </a:p>
        </p:txBody>
      </p:sp>
      <p:sp>
        <p:nvSpPr>
          <p:cNvPr id="20" name="Rounded Rectangle 19"/>
          <p:cNvSpPr/>
          <p:nvPr/>
        </p:nvSpPr>
        <p:spPr>
          <a:xfrm>
            <a:off x="685800" y="3520439"/>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 y="3685031"/>
            <a:ext cx="475488" cy="475488"/>
          </a:xfrm>
          <a:prstGeom prst="roundRect">
            <a:avLst/>
          </a:prstGeom>
          <a:solidFill>
            <a:srgbClr val="085C94"/>
          </a:solidFill>
          <a:ln>
            <a:solidFill>
              <a:srgbClr val="085C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785615"/>
            <a:ext cx="475488" cy="182880"/>
          </a:xfrm>
          <a:prstGeom prst="rect">
            <a:avLst/>
          </a:prstGeom>
          <a:noFill/>
        </p:spPr>
        <p:txBody>
          <a:bodyPr wrap="square" anchor="t">
            <a:spAutoFit/>
          </a:bodyPr>
          <a:lstStyle/>
          <a:p>
            <a:pPr algn="ctr">
              <a:defRPr sz="1100" b="1">
                <a:solidFill>
                  <a:srgbClr val="FFFFFF"/>
                </a:solidFill>
                <a:latin typeface="Aptos"/>
              </a:defRPr>
            </a:pPr>
            <a:r>
              <a:t>4</a:t>
            </a:r>
          </a:p>
        </p:txBody>
      </p:sp>
      <p:sp>
        <p:nvSpPr>
          <p:cNvPr id="23" name="TextBox 22"/>
          <p:cNvSpPr txBox="1"/>
          <p:nvPr/>
        </p:nvSpPr>
        <p:spPr>
          <a:xfrm>
            <a:off x="1463040" y="3703320"/>
            <a:ext cx="2331720" cy="320040"/>
          </a:xfrm>
          <a:prstGeom prst="rect">
            <a:avLst/>
          </a:prstGeom>
          <a:noFill/>
        </p:spPr>
        <p:txBody>
          <a:bodyPr wrap="square" anchor="t">
            <a:spAutoFit/>
          </a:bodyPr>
          <a:lstStyle/>
          <a:p>
            <a:pPr algn="l">
              <a:defRPr sz="1400" b="1">
                <a:solidFill>
                  <a:srgbClr val="082349"/>
                </a:solidFill>
                <a:latin typeface="Aptos"/>
              </a:defRPr>
            </a:pPr>
            <a:r>
              <a:t>Patch nhỏ</a:t>
            </a:r>
          </a:p>
        </p:txBody>
      </p:sp>
      <p:sp>
        <p:nvSpPr>
          <p:cNvPr id="24" name="TextBox 23"/>
          <p:cNvSpPr txBox="1"/>
          <p:nvPr/>
        </p:nvSpPr>
        <p:spPr>
          <a:xfrm>
            <a:off x="1463040" y="4187952"/>
            <a:ext cx="2331720" cy="594360"/>
          </a:xfrm>
          <a:prstGeom prst="rect">
            <a:avLst/>
          </a:prstGeom>
          <a:noFill/>
        </p:spPr>
        <p:txBody>
          <a:bodyPr wrap="square" anchor="t">
            <a:spAutoFit/>
          </a:bodyPr>
          <a:lstStyle/>
          <a:p>
            <a:pPr algn="l">
              <a:defRPr sz="1200" b="0">
                <a:solidFill>
                  <a:srgbClr val="596B81"/>
                </a:solidFill>
                <a:latin typeface="Aptos"/>
              </a:defRPr>
            </a:pPr>
            <a:r>
              <a:t>Chỉ sửa file liên quan, không refactor lan rộng.</a:t>
            </a:r>
          </a:p>
        </p:txBody>
      </p:sp>
      <p:sp>
        <p:nvSpPr>
          <p:cNvPr id="25" name="Rounded Rectangle 24"/>
          <p:cNvSpPr/>
          <p:nvPr/>
        </p:nvSpPr>
        <p:spPr>
          <a:xfrm>
            <a:off x="4480560" y="3520439"/>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645152" y="3685031"/>
            <a:ext cx="475488" cy="475488"/>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45152" y="3785615"/>
            <a:ext cx="475488" cy="182880"/>
          </a:xfrm>
          <a:prstGeom prst="rect">
            <a:avLst/>
          </a:prstGeom>
          <a:noFill/>
        </p:spPr>
        <p:txBody>
          <a:bodyPr wrap="square" anchor="t">
            <a:spAutoFit/>
          </a:bodyPr>
          <a:lstStyle/>
          <a:p>
            <a:pPr algn="ctr">
              <a:defRPr sz="1100" b="1">
                <a:solidFill>
                  <a:srgbClr val="FFFFFF"/>
                </a:solidFill>
                <a:latin typeface="Aptos"/>
              </a:defRPr>
            </a:pPr>
            <a:r>
              <a:t>5</a:t>
            </a:r>
          </a:p>
        </p:txBody>
      </p:sp>
      <p:sp>
        <p:nvSpPr>
          <p:cNvPr id="28" name="TextBox 27"/>
          <p:cNvSpPr txBox="1"/>
          <p:nvPr/>
        </p:nvSpPr>
        <p:spPr>
          <a:xfrm>
            <a:off x="5257800" y="3703320"/>
            <a:ext cx="2331720" cy="320040"/>
          </a:xfrm>
          <a:prstGeom prst="rect">
            <a:avLst/>
          </a:prstGeom>
          <a:noFill/>
        </p:spPr>
        <p:txBody>
          <a:bodyPr wrap="square" anchor="t">
            <a:spAutoFit/>
          </a:bodyPr>
          <a:lstStyle/>
          <a:p>
            <a:pPr algn="l">
              <a:defRPr sz="1400" b="1">
                <a:solidFill>
                  <a:srgbClr val="082349"/>
                </a:solidFill>
                <a:latin typeface="Aptos"/>
              </a:defRPr>
            </a:pPr>
            <a:r>
              <a:t>Regression gate</a:t>
            </a:r>
          </a:p>
        </p:txBody>
      </p:sp>
      <p:sp>
        <p:nvSpPr>
          <p:cNvPr id="29" name="TextBox 28"/>
          <p:cNvSpPr txBox="1"/>
          <p:nvPr/>
        </p:nvSpPr>
        <p:spPr>
          <a:xfrm>
            <a:off x="5257800" y="4187952"/>
            <a:ext cx="2331720" cy="594360"/>
          </a:xfrm>
          <a:prstGeom prst="rect">
            <a:avLst/>
          </a:prstGeom>
          <a:noFill/>
        </p:spPr>
        <p:txBody>
          <a:bodyPr wrap="square" anchor="t">
            <a:spAutoFit/>
          </a:bodyPr>
          <a:lstStyle/>
          <a:p>
            <a:pPr algn="l">
              <a:defRPr sz="1200" b="0">
                <a:solidFill>
                  <a:srgbClr val="596B81"/>
                </a:solidFill>
                <a:latin typeface="Aptos"/>
              </a:defRPr>
            </a:pPr>
            <a:r>
              <a:t>Unit → API → browser E2E → production build.</a:t>
            </a:r>
          </a:p>
        </p:txBody>
      </p:sp>
      <p:sp>
        <p:nvSpPr>
          <p:cNvPr id="30" name="Rounded Rectangle 29"/>
          <p:cNvSpPr/>
          <p:nvPr/>
        </p:nvSpPr>
        <p:spPr>
          <a:xfrm>
            <a:off x="8275320" y="3520439"/>
            <a:ext cx="3429000" cy="1572768"/>
          </a:xfrm>
          <a:prstGeom prst="roundRect">
            <a:avLst/>
          </a:prstGeom>
          <a:solidFill>
            <a:srgbClr val="FFFFFF"/>
          </a:solidFill>
          <a:ln>
            <a:solidFill>
              <a:srgbClr val="D3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439912" y="3685031"/>
            <a:ext cx="475488" cy="475488"/>
          </a:xfrm>
          <a:prstGeom prst="roundRect">
            <a:avLst/>
          </a:prstGeom>
          <a:solidFill>
            <a:srgbClr val="128C5B"/>
          </a:solidFill>
          <a:ln>
            <a:solidFill>
              <a:srgbClr val="128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9912" y="3785615"/>
            <a:ext cx="475488" cy="182880"/>
          </a:xfrm>
          <a:prstGeom prst="rect">
            <a:avLst/>
          </a:prstGeom>
          <a:noFill/>
        </p:spPr>
        <p:txBody>
          <a:bodyPr wrap="square" anchor="t">
            <a:spAutoFit/>
          </a:bodyPr>
          <a:lstStyle/>
          <a:p>
            <a:pPr algn="ctr">
              <a:defRPr sz="1100" b="1">
                <a:solidFill>
                  <a:srgbClr val="FFFFFF"/>
                </a:solidFill>
                <a:latin typeface="Aptos"/>
              </a:defRPr>
            </a:pPr>
            <a:r>
              <a:t>6</a:t>
            </a:r>
          </a:p>
        </p:txBody>
      </p:sp>
      <p:sp>
        <p:nvSpPr>
          <p:cNvPr id="33" name="TextBox 32"/>
          <p:cNvSpPr txBox="1"/>
          <p:nvPr/>
        </p:nvSpPr>
        <p:spPr>
          <a:xfrm>
            <a:off x="9052560" y="3703320"/>
            <a:ext cx="2331720" cy="320040"/>
          </a:xfrm>
          <a:prstGeom prst="rect">
            <a:avLst/>
          </a:prstGeom>
          <a:noFill/>
        </p:spPr>
        <p:txBody>
          <a:bodyPr wrap="square" anchor="t">
            <a:spAutoFit/>
          </a:bodyPr>
          <a:lstStyle/>
          <a:p>
            <a:pPr algn="l">
              <a:defRPr sz="1400" b="1">
                <a:solidFill>
                  <a:srgbClr val="082349"/>
                </a:solidFill>
                <a:latin typeface="Aptos"/>
              </a:defRPr>
            </a:pPr>
            <a:r>
              <a:t>Review kết quả</a:t>
            </a:r>
          </a:p>
        </p:txBody>
      </p:sp>
      <p:sp>
        <p:nvSpPr>
          <p:cNvPr id="34" name="TextBox 33"/>
          <p:cNvSpPr txBox="1"/>
          <p:nvPr/>
        </p:nvSpPr>
        <p:spPr>
          <a:xfrm>
            <a:off x="9052560" y="4187952"/>
            <a:ext cx="2331720" cy="594360"/>
          </a:xfrm>
          <a:prstGeom prst="rect">
            <a:avLst/>
          </a:prstGeom>
          <a:noFill/>
        </p:spPr>
        <p:txBody>
          <a:bodyPr wrap="square" anchor="t">
            <a:spAutoFit/>
          </a:bodyPr>
          <a:lstStyle/>
          <a:p>
            <a:pPr algn="l">
              <a:defRPr sz="1200" b="0">
                <a:solidFill>
                  <a:srgbClr val="596B81"/>
                </a:solidFill>
                <a:latin typeface="Aptos"/>
              </a:defRPr>
            </a:pPr>
            <a:r>
              <a:t>So expected/actual; lỗi khác module chỉ báo cáo, không tự sửa.</a:t>
            </a:r>
          </a:p>
        </p:txBody>
      </p:sp>
      <p:sp>
        <p:nvSpPr>
          <p:cNvPr id="35" name="Rounded Rectangle 34"/>
          <p:cNvSpPr/>
          <p:nvPr/>
        </p:nvSpPr>
        <p:spPr>
          <a:xfrm>
            <a:off x="777240" y="5532120"/>
            <a:ext cx="10469880" cy="566928"/>
          </a:xfrm>
          <a:prstGeom prst="roundRect">
            <a:avLst/>
          </a:prstGeom>
          <a:solidFill>
            <a:srgbClr val="F0F7FC"/>
          </a:solidFill>
          <a:ln>
            <a:solidFill>
              <a:srgbClr val="CF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687568"/>
            <a:ext cx="10012680" cy="256032"/>
          </a:xfrm>
          <a:prstGeom prst="rect">
            <a:avLst/>
          </a:prstGeom>
          <a:noFill/>
        </p:spPr>
        <p:txBody>
          <a:bodyPr wrap="square" anchor="t">
            <a:spAutoFit/>
          </a:bodyPr>
          <a:lstStyle/>
          <a:p>
            <a:pPr algn="ctr">
              <a:defRPr sz="1300" b="1">
                <a:solidFill>
                  <a:srgbClr val="082349"/>
                </a:solidFill>
                <a:latin typeface="Aptos"/>
              </a:defRPr>
            </a:pPr>
            <a:r>
              <a:t>Agent hỗ trợ tốc độ; người làm dự án vẫn chịu trách nhiệm về scope, quyết định kỹ thuật và bằng chứng kiểm thử.</a:t>
            </a:r>
          </a:p>
        </p:txBody>
      </p:sp>
      <p:sp>
        <p:nvSpPr>
          <p:cNvPr id="37" name="TextBox 36"/>
          <p:cNvSpPr txBox="1"/>
          <p:nvPr/>
        </p:nvSpPr>
        <p:spPr>
          <a:xfrm>
            <a:off x="640080" y="6547104"/>
            <a:ext cx="4206240" cy="182880"/>
          </a:xfrm>
          <a:prstGeom prst="rect">
            <a:avLst/>
          </a:prstGeom>
          <a:noFill/>
        </p:spPr>
        <p:txBody>
          <a:bodyPr wrap="square" anchor="t">
            <a:spAutoFit/>
          </a:bodyPr>
          <a:lstStyle/>
          <a:p>
            <a:pPr algn="l">
              <a:defRPr sz="800" b="1">
                <a:solidFill>
                  <a:srgbClr val="596B81"/>
                </a:solidFill>
                <a:latin typeface="Aptos"/>
              </a:defRPr>
            </a:pPr>
            <a:r>
              <a:t>AI HR HELPDESK  |  INTERNAL DEMO</a:t>
            </a:r>
          </a:p>
        </p:txBody>
      </p:sp>
      <p:sp>
        <p:nvSpPr>
          <p:cNvPr id="38" name="TextBox 37"/>
          <p:cNvSpPr txBox="1"/>
          <p:nvPr/>
        </p:nvSpPr>
        <p:spPr>
          <a:xfrm>
            <a:off x="9692640" y="6528816"/>
            <a:ext cx="1828800" cy="201168"/>
          </a:xfrm>
          <a:prstGeom prst="rect">
            <a:avLst/>
          </a:prstGeom>
          <a:noFill/>
        </p:spPr>
        <p:txBody>
          <a:bodyPr wrap="square" anchor="t">
            <a:spAutoFit/>
          </a:bodyPr>
          <a:lstStyle/>
          <a:p>
            <a:pPr algn="r">
              <a:defRPr sz="800" b="1">
                <a:solidFill>
                  <a:srgbClr val="085C94"/>
                </a:solidFill>
                <a:latin typeface="Aptos"/>
              </a:defRPr>
            </a:pPr>
            <a:r>
              <a:t>02:00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C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82349"/>
          </a:solidFill>
          <a:ln>
            <a:solidFill>
              <a:srgbClr val="08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828800" cy="274320"/>
          </a:xfrm>
          <a:prstGeom prst="rect">
            <a:avLst/>
          </a:prstGeom>
          <a:noFill/>
        </p:spPr>
        <p:txBody>
          <a:bodyPr wrap="square" anchor="t">
            <a:spAutoFit/>
          </a:bodyPr>
          <a:lstStyle/>
          <a:p>
            <a:pPr algn="l">
              <a:defRPr sz="1200" b="1">
                <a:solidFill>
                  <a:srgbClr val="E5A923"/>
                </a:solidFill>
                <a:latin typeface="Aptos"/>
              </a:defRPr>
            </a:pPr>
            <a:r>
              <a:t>KẾT LUẬN</a:t>
            </a:r>
          </a:p>
        </p:txBody>
      </p:sp>
      <p:sp>
        <p:nvSpPr>
          <p:cNvPr id="4" name="TextBox 3"/>
          <p:cNvSpPr txBox="1"/>
          <p:nvPr/>
        </p:nvSpPr>
        <p:spPr>
          <a:xfrm>
            <a:off x="822960" y="1417320"/>
            <a:ext cx="7772400" cy="1234440"/>
          </a:xfrm>
          <a:prstGeom prst="rect">
            <a:avLst/>
          </a:prstGeom>
          <a:noFill/>
        </p:spPr>
        <p:txBody>
          <a:bodyPr wrap="square" anchor="t">
            <a:spAutoFit/>
          </a:bodyPr>
          <a:lstStyle/>
          <a:p>
            <a:pPr algn="l">
              <a:defRPr sz="3100" b="1">
                <a:solidFill>
                  <a:srgbClr val="FFFFFF"/>
                </a:solidFill>
                <a:latin typeface="Aptos Display"/>
              </a:defRPr>
            </a:pPr>
            <a:r>
              <a:t>Từ chatbot trả lời câu hỏi</a:t>
            </a:r>
            <a:br/>
            <a:r>
              <a:t>thành HR Helpdesk có kiểm soát.</a:t>
            </a:r>
          </a:p>
        </p:txBody>
      </p:sp>
      <p:sp>
        <p:nvSpPr>
          <p:cNvPr id="5" name="TextBox 4"/>
          <p:cNvSpPr txBox="1"/>
          <p:nvPr/>
        </p:nvSpPr>
        <p:spPr>
          <a:xfrm>
            <a:off x="868680" y="3063240"/>
            <a:ext cx="8046720" cy="777240"/>
          </a:xfrm>
          <a:prstGeom prst="rect">
            <a:avLst/>
          </a:prstGeom>
          <a:noFill/>
        </p:spPr>
        <p:txBody>
          <a:bodyPr wrap="square" anchor="t">
            <a:spAutoFit/>
          </a:bodyPr>
          <a:lstStyle/>
          <a:p>
            <a:pPr algn="l">
              <a:defRPr sz="1800" b="0">
                <a:solidFill>
                  <a:srgbClr val="CDDDEE"/>
                </a:solidFill>
                <a:latin typeface="Aptos"/>
              </a:defRPr>
            </a:pPr>
            <a:r>
              <a:t>Đề xuất: mở pilot nội bộ có giới hạn, đo chất lượng theo golden set và phản hồi người dùng trước khi scale.</a:t>
            </a:r>
          </a:p>
        </p:txBody>
      </p:sp>
      <p:sp>
        <p:nvSpPr>
          <p:cNvPr id="6" name="Rounded Rectangle 5"/>
          <p:cNvSpPr/>
          <p:nvPr/>
        </p:nvSpPr>
        <p:spPr>
          <a:xfrm>
            <a:off x="868680" y="4251960"/>
            <a:ext cx="2926080" cy="713232"/>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443984"/>
            <a:ext cx="2926080" cy="274320"/>
          </a:xfrm>
          <a:prstGeom prst="rect">
            <a:avLst/>
          </a:prstGeom>
          <a:noFill/>
        </p:spPr>
        <p:txBody>
          <a:bodyPr wrap="square" anchor="t">
            <a:spAutoFit/>
          </a:bodyPr>
          <a:lstStyle/>
          <a:p>
            <a:pPr algn="ctr">
              <a:defRPr sz="1800" b="1">
                <a:solidFill>
                  <a:srgbClr val="FFFFFF"/>
                </a:solidFill>
                <a:latin typeface="Aptos"/>
              </a:defRPr>
            </a:pPr>
            <a:r>
              <a:t>Q&amp;A</a:t>
            </a:r>
          </a:p>
        </p:txBody>
      </p:sp>
      <p:sp>
        <p:nvSpPr>
          <p:cNvPr id="8" name="TextBox 7"/>
          <p:cNvSpPr txBox="1"/>
          <p:nvPr/>
        </p:nvSpPr>
        <p:spPr>
          <a:xfrm>
            <a:off x="868680" y="6035040"/>
            <a:ext cx="5486400" cy="274320"/>
          </a:xfrm>
          <a:prstGeom prst="rect">
            <a:avLst/>
          </a:prstGeom>
          <a:noFill/>
        </p:spPr>
        <p:txBody>
          <a:bodyPr wrap="square" anchor="t">
            <a:spAutoFit/>
          </a:bodyPr>
          <a:lstStyle/>
          <a:p>
            <a:pPr algn="l">
              <a:defRPr sz="1000" b="1">
                <a:solidFill>
                  <a:srgbClr val="E5A923"/>
                </a:solidFill>
                <a:latin typeface="Aptos"/>
              </a:defRPr>
            </a:pPr>
            <a:r>
              <a:t>Demo • Architecture • Risk •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